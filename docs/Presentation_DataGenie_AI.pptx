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allpoint" charset="1" panose="00000000000000000000"/>
      <p:regular r:id="rId20"/>
    </p:embeddedFont>
    <p:embeddedFont>
      <p:font typeface="Aristotelica Pro" charset="1" panose="00000500000000000000"/>
      <p:regular r:id="rId21"/>
    </p:embeddedFont>
    <p:embeddedFont>
      <p:font typeface="Aristotelica Pro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48762"/>
            <a:ext cx="2580662" cy="2523819"/>
          </a:xfrm>
          <a:custGeom>
            <a:avLst/>
            <a:gdLst/>
            <a:ahLst/>
            <a:cxnLst/>
            <a:rect r="r" b="b" t="t" l="l"/>
            <a:pathLst>
              <a:path h="2523819" w="2580662">
                <a:moveTo>
                  <a:pt x="0" y="0"/>
                </a:moveTo>
                <a:lnTo>
                  <a:pt x="2580662" y="0"/>
                </a:lnTo>
                <a:lnTo>
                  <a:pt x="2580662" y="2523820"/>
                </a:lnTo>
                <a:lnTo>
                  <a:pt x="0" y="2523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503" y="1008785"/>
            <a:ext cx="2563797" cy="2563797"/>
          </a:xfrm>
          <a:custGeom>
            <a:avLst/>
            <a:gdLst/>
            <a:ahLst/>
            <a:cxnLst/>
            <a:rect r="r" b="b" t="t" l="l"/>
            <a:pathLst>
              <a:path h="2563797" w="2563797">
                <a:moveTo>
                  <a:pt x="0" y="0"/>
                </a:moveTo>
                <a:lnTo>
                  <a:pt x="2563797" y="0"/>
                </a:lnTo>
                <a:lnTo>
                  <a:pt x="2563797" y="2563797"/>
                </a:lnTo>
                <a:lnTo>
                  <a:pt x="0" y="2563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30679" y="1619687"/>
            <a:ext cx="6026336" cy="247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7"/>
              </a:lnSpc>
            </a:pPr>
            <a:r>
              <a:rPr lang="en-US" sz="13047" spc="65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🧞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79255" y="4703569"/>
            <a:ext cx="3329186" cy="107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sz="6975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DataGenie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74236" y="5838925"/>
            <a:ext cx="6739519" cy="38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</a:pPr>
            <a:r>
              <a:rPr lang="en-US" sz="2163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Assistant BI Intelligent avec NLP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56846" y="8286750"/>
            <a:ext cx="3374317" cy="21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</a:pPr>
            <a:r>
              <a:rPr lang="en-US" sz="121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Projet web Semantique- 2026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7960" y="6952313"/>
            <a:ext cx="3134709" cy="114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63" b="true">
                <a:solidFill>
                  <a:srgbClr val="2A2B39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Réalisée Par :</a:t>
            </a:r>
          </a:p>
          <a:p>
            <a:pPr algn="l">
              <a:lnSpc>
                <a:spcPts val="3029"/>
              </a:lnSpc>
            </a:pPr>
            <a:r>
              <a:rPr lang="en-US" sz="2163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Maryem EL YAZGHI</a:t>
            </a:r>
          </a:p>
          <a:p>
            <a:pPr algn="l">
              <a:lnSpc>
                <a:spcPts val="3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842693" y="6952313"/>
            <a:ext cx="3134709" cy="76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63" b="true">
                <a:solidFill>
                  <a:srgbClr val="2A2B39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Sous Encadrement de:</a:t>
            </a:r>
          </a:p>
          <a:p>
            <a:pPr algn="l">
              <a:lnSpc>
                <a:spcPts val="3029"/>
              </a:lnSpc>
            </a:pPr>
            <a:r>
              <a:rPr lang="en-US" sz="2163" b="true">
                <a:solidFill>
                  <a:srgbClr val="2A2B39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Pr.</a:t>
            </a:r>
            <a:r>
              <a:rPr lang="en-US" sz="2163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Khalid Amechenoue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911553"/>
            <a:ext cx="3307556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PROBLÉMATIQUE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3292678"/>
            <a:ext cx="16764000" cy="1344511"/>
            <a:chOff x="0" y="0"/>
            <a:chExt cx="22352000" cy="17926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520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538732"/>
                  </a:lnTo>
                  <a:cubicBezTo>
                    <a:pt x="22352000" y="1679067"/>
                    <a:pt x="22238336" y="1792732"/>
                    <a:pt x="22098000" y="1792732"/>
                  </a:cubicBezTo>
                  <a:lnTo>
                    <a:pt x="254000" y="1792732"/>
                  </a:lnTo>
                  <a:cubicBezTo>
                    <a:pt x="113665" y="1792732"/>
                    <a:pt x="0" y="1679067"/>
                    <a:pt x="0" y="15387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3254578"/>
            <a:ext cx="76200" cy="1420711"/>
            <a:chOff x="0" y="0"/>
            <a:chExt cx="101600" cy="1894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50800"/>
              <a:ext cx="1016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101600">
                  <a:moveTo>
                    <a:pt x="101600" y="0"/>
                  </a:moveTo>
                  <a:lnTo>
                    <a:pt x="101600" y="1792732"/>
                  </a:lnTo>
                  <a:lnTo>
                    <a:pt x="0" y="1792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66800" y="3426028"/>
            <a:ext cx="1655521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Temps de Génération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3976392"/>
            <a:ext cx="1655521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Création manuelle prend 2-4h par analyste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000" y="4789589"/>
            <a:ext cx="16764000" cy="1344511"/>
            <a:chOff x="0" y="0"/>
            <a:chExt cx="22352000" cy="1792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520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538732"/>
                  </a:lnTo>
                  <a:cubicBezTo>
                    <a:pt x="22352000" y="1679067"/>
                    <a:pt x="22238336" y="1792732"/>
                    <a:pt x="22098000" y="1792732"/>
                  </a:cubicBezTo>
                  <a:lnTo>
                    <a:pt x="254000" y="1792732"/>
                  </a:lnTo>
                  <a:cubicBezTo>
                    <a:pt x="113665" y="1792732"/>
                    <a:pt x="0" y="1679067"/>
                    <a:pt x="0" y="15387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62000" y="4751489"/>
            <a:ext cx="76200" cy="1420711"/>
            <a:chOff x="0" y="0"/>
            <a:chExt cx="101600" cy="18942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50800"/>
              <a:ext cx="1016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101600">
                  <a:moveTo>
                    <a:pt x="101600" y="0"/>
                  </a:moveTo>
                  <a:lnTo>
                    <a:pt x="101600" y="1792732"/>
                  </a:lnTo>
                  <a:lnTo>
                    <a:pt x="0" y="1792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66800" y="4922939"/>
            <a:ext cx="1655521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Barrière Technique 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" y="5473303"/>
            <a:ext cx="1655521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Décideurs dépendent des analystes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2000" y="6286500"/>
            <a:ext cx="16764000" cy="1344511"/>
            <a:chOff x="0" y="0"/>
            <a:chExt cx="22352000" cy="17926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520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538732"/>
                  </a:lnTo>
                  <a:cubicBezTo>
                    <a:pt x="22352000" y="1679067"/>
                    <a:pt x="22238336" y="1792732"/>
                    <a:pt x="22098000" y="1792732"/>
                  </a:cubicBezTo>
                  <a:lnTo>
                    <a:pt x="254000" y="1792732"/>
                  </a:lnTo>
                  <a:cubicBezTo>
                    <a:pt x="113665" y="1792732"/>
                    <a:pt x="0" y="1679067"/>
                    <a:pt x="0" y="15387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62000" y="6248400"/>
            <a:ext cx="76200" cy="1420711"/>
            <a:chOff x="0" y="0"/>
            <a:chExt cx="101600" cy="18942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50800"/>
              <a:ext cx="1016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101600">
                  <a:moveTo>
                    <a:pt x="101600" y="0"/>
                  </a:moveTo>
                  <a:lnTo>
                    <a:pt x="101600" y="1792732"/>
                  </a:lnTo>
                  <a:lnTo>
                    <a:pt x="0" y="1792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66800" y="6419850"/>
            <a:ext cx="1655521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Erreurs Humaines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800" y="6970214"/>
            <a:ext cx="1655521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15-20% d'erreurs dans les analyses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2000" y="7783411"/>
            <a:ext cx="16764000" cy="1344511"/>
            <a:chOff x="0" y="0"/>
            <a:chExt cx="22352000" cy="17926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3520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538732"/>
                  </a:lnTo>
                  <a:cubicBezTo>
                    <a:pt x="22352000" y="1679067"/>
                    <a:pt x="22238336" y="1792732"/>
                    <a:pt x="22098000" y="1792732"/>
                  </a:cubicBezTo>
                  <a:lnTo>
                    <a:pt x="254000" y="1792732"/>
                  </a:lnTo>
                  <a:cubicBezTo>
                    <a:pt x="113665" y="1792732"/>
                    <a:pt x="0" y="1679067"/>
                    <a:pt x="0" y="15387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62000" y="7745311"/>
            <a:ext cx="76200" cy="1420711"/>
            <a:chOff x="0" y="0"/>
            <a:chExt cx="101600" cy="18942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50800"/>
              <a:ext cx="101600" cy="1792732"/>
            </a:xfrm>
            <a:custGeom>
              <a:avLst/>
              <a:gdLst/>
              <a:ahLst/>
              <a:cxnLst/>
              <a:rect r="r" b="b" t="t" l="l"/>
              <a:pathLst>
                <a:path h="1792732" w="101600">
                  <a:moveTo>
                    <a:pt x="101600" y="0"/>
                  </a:moveTo>
                  <a:lnTo>
                    <a:pt x="101600" y="1792732"/>
                  </a:lnTo>
                  <a:lnTo>
                    <a:pt x="0" y="1792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66800" y="7916761"/>
            <a:ext cx="1655521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Retard Décisions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6800" y="8467125"/>
            <a:ext cx="1655521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Insights arrivent trop tard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2000" y="9382125"/>
            <a:ext cx="2343864" cy="15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"/>
              </a:lnSpc>
            </a:pPr>
            <a:r>
              <a:rPr lang="en-US" sz="891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Analyse du contexte métier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2550919"/>
            <a:ext cx="3464521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NOTRE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4246369"/>
            <a:ext cx="16166592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7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DATAGENIE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5086350"/>
            <a:ext cx="1616659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B39">
                    <a:alpha val="89804"/>
                  </a:srgbClr>
                </a:solidFill>
                <a:latin typeface="Ballpoint"/>
                <a:ea typeface="Ballpoint"/>
                <a:cs typeface="Ballpoint"/>
                <a:sym typeface="Ballpoint"/>
              </a:rPr>
              <a:t>Transforme langage naturel en requêtes SQL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62000" y="6674939"/>
            <a:ext cx="8267700" cy="792356"/>
            <a:chOff x="0" y="0"/>
            <a:chExt cx="11023600" cy="1056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236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802513"/>
                  </a:lnTo>
                  <a:cubicBezTo>
                    <a:pt x="11023600" y="942848"/>
                    <a:pt x="10909935" y="1056513"/>
                    <a:pt x="10769600" y="1056513"/>
                  </a:cubicBezTo>
                  <a:lnTo>
                    <a:pt x="254000" y="1056513"/>
                  </a:lnTo>
                  <a:cubicBezTo>
                    <a:pt x="113665" y="1056513"/>
                    <a:pt x="0" y="942848"/>
                    <a:pt x="0" y="802513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62000" y="6646364"/>
            <a:ext cx="57150" cy="849506"/>
            <a:chOff x="0" y="0"/>
            <a:chExt cx="76200" cy="1132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8100"/>
              <a:ext cx="762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76200">
                  <a:moveTo>
                    <a:pt x="76200" y="0"/>
                  </a:moveTo>
                  <a:lnTo>
                    <a:pt x="76200" y="1056513"/>
                  </a:lnTo>
                  <a:lnTo>
                    <a:pt x="0" y="1056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6798764"/>
            <a:ext cx="7947279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Langage naturel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58300" y="6674939"/>
            <a:ext cx="8267700" cy="792356"/>
            <a:chOff x="0" y="0"/>
            <a:chExt cx="11023600" cy="1056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36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802513"/>
                  </a:lnTo>
                  <a:cubicBezTo>
                    <a:pt x="11023600" y="942848"/>
                    <a:pt x="10909935" y="1056513"/>
                    <a:pt x="10769600" y="1056513"/>
                  </a:cubicBezTo>
                  <a:lnTo>
                    <a:pt x="254000" y="1056513"/>
                  </a:lnTo>
                  <a:cubicBezTo>
                    <a:pt x="113665" y="1056513"/>
                    <a:pt x="0" y="942848"/>
                    <a:pt x="0" y="802513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00" y="6646364"/>
            <a:ext cx="57150" cy="849506"/>
            <a:chOff x="0" y="0"/>
            <a:chExt cx="76200" cy="11326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38100"/>
              <a:ext cx="762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76200">
                  <a:moveTo>
                    <a:pt x="76200" y="0"/>
                  </a:moveTo>
                  <a:lnTo>
                    <a:pt x="76200" y="1056513"/>
                  </a:lnTo>
                  <a:lnTo>
                    <a:pt x="0" y="1056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525000" y="6798764"/>
            <a:ext cx="7947279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Réponses instantanées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2000" y="7695905"/>
            <a:ext cx="8267700" cy="792356"/>
            <a:chOff x="0" y="0"/>
            <a:chExt cx="11023600" cy="105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236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802513"/>
                  </a:lnTo>
                  <a:cubicBezTo>
                    <a:pt x="11023600" y="942848"/>
                    <a:pt x="10909935" y="1056513"/>
                    <a:pt x="10769600" y="1056513"/>
                  </a:cubicBezTo>
                  <a:lnTo>
                    <a:pt x="254000" y="1056513"/>
                  </a:lnTo>
                  <a:cubicBezTo>
                    <a:pt x="113665" y="1056513"/>
                    <a:pt x="0" y="942848"/>
                    <a:pt x="0" y="802513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62000" y="7667330"/>
            <a:ext cx="57150" cy="849506"/>
            <a:chOff x="0" y="0"/>
            <a:chExt cx="76200" cy="11326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38100"/>
              <a:ext cx="762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76200">
                  <a:moveTo>
                    <a:pt x="76200" y="0"/>
                  </a:moveTo>
                  <a:lnTo>
                    <a:pt x="76200" y="1056513"/>
                  </a:lnTo>
                  <a:lnTo>
                    <a:pt x="0" y="1056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28700" y="7819730"/>
            <a:ext cx="7947279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90% de précision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58300" y="7695905"/>
            <a:ext cx="8267700" cy="792356"/>
            <a:chOff x="0" y="0"/>
            <a:chExt cx="11023600" cy="10564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236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802513"/>
                  </a:lnTo>
                  <a:cubicBezTo>
                    <a:pt x="11023600" y="942848"/>
                    <a:pt x="10909935" y="1056513"/>
                    <a:pt x="10769600" y="1056513"/>
                  </a:cubicBezTo>
                  <a:lnTo>
                    <a:pt x="254000" y="1056513"/>
                  </a:lnTo>
                  <a:cubicBezTo>
                    <a:pt x="113665" y="1056513"/>
                    <a:pt x="0" y="942848"/>
                    <a:pt x="0" y="802513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258300" y="7667330"/>
            <a:ext cx="57150" cy="849506"/>
            <a:chOff x="0" y="0"/>
            <a:chExt cx="76200" cy="11326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38100"/>
              <a:ext cx="76200" cy="1056513"/>
            </a:xfrm>
            <a:custGeom>
              <a:avLst/>
              <a:gdLst/>
              <a:ahLst/>
              <a:cxnLst/>
              <a:rect r="r" b="b" t="t" l="l"/>
              <a:pathLst>
                <a:path h="1056513" w="76200">
                  <a:moveTo>
                    <a:pt x="76200" y="0"/>
                  </a:moveTo>
                  <a:lnTo>
                    <a:pt x="76200" y="1056513"/>
                  </a:lnTo>
                  <a:lnTo>
                    <a:pt x="0" y="1056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525000" y="7819730"/>
            <a:ext cx="7947279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100% local et gratuit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2000" y="9382125"/>
            <a:ext cx="1825904" cy="15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Solution IA innovante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590970"/>
            <a:ext cx="5045869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ARCHITECTURE GLOBALE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2972095"/>
            <a:ext cx="16764000" cy="1188539"/>
            <a:chOff x="0" y="0"/>
            <a:chExt cx="22352000" cy="1584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520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330706"/>
                  </a:lnTo>
                  <a:cubicBezTo>
                    <a:pt x="22352000" y="1471041"/>
                    <a:pt x="22238336" y="1584706"/>
                    <a:pt x="22098000" y="1584706"/>
                  </a:cubicBezTo>
                  <a:lnTo>
                    <a:pt x="254000" y="1584706"/>
                  </a:lnTo>
                  <a:cubicBezTo>
                    <a:pt x="113665" y="1584706"/>
                    <a:pt x="0" y="1471041"/>
                    <a:pt x="0" y="133070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2933995"/>
            <a:ext cx="76200" cy="1264739"/>
            <a:chOff x="0" y="0"/>
            <a:chExt cx="101600" cy="1686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50800"/>
              <a:ext cx="1016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101600">
                  <a:moveTo>
                    <a:pt x="101600" y="0"/>
                  </a:moveTo>
                  <a:lnTo>
                    <a:pt x="101600" y="1584706"/>
                  </a:lnTo>
                  <a:lnTo>
                    <a:pt x="0" y="1584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143000" y="3095920"/>
            <a:ext cx="1639976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Interface Utilisateur (Streamlit)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3554911"/>
            <a:ext cx="1639976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Interface web pour requêtes naturelles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000" y="4293994"/>
            <a:ext cx="16764000" cy="1188539"/>
            <a:chOff x="0" y="0"/>
            <a:chExt cx="22352000" cy="15847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520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330706"/>
                  </a:lnTo>
                  <a:cubicBezTo>
                    <a:pt x="22352000" y="1471041"/>
                    <a:pt x="22238336" y="1584706"/>
                    <a:pt x="22098000" y="1584706"/>
                  </a:cubicBezTo>
                  <a:lnTo>
                    <a:pt x="254000" y="1584706"/>
                  </a:lnTo>
                  <a:cubicBezTo>
                    <a:pt x="113665" y="1584706"/>
                    <a:pt x="0" y="1471041"/>
                    <a:pt x="0" y="133070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62000" y="4255894"/>
            <a:ext cx="76200" cy="1264739"/>
            <a:chOff x="0" y="0"/>
            <a:chExt cx="101600" cy="16863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50800"/>
              <a:ext cx="1016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101600">
                  <a:moveTo>
                    <a:pt x="101600" y="0"/>
                  </a:moveTo>
                  <a:lnTo>
                    <a:pt x="101600" y="1584706"/>
                  </a:lnTo>
                  <a:lnTo>
                    <a:pt x="0" y="1584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4417819"/>
            <a:ext cx="1639976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API Layer (FastAPI)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4876800"/>
            <a:ext cx="1639976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Endpoints REST pour traitement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2000" y="5615883"/>
            <a:ext cx="16764000" cy="1188539"/>
            <a:chOff x="0" y="0"/>
            <a:chExt cx="22352000" cy="1584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520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330706"/>
                  </a:lnTo>
                  <a:cubicBezTo>
                    <a:pt x="22352000" y="1471041"/>
                    <a:pt x="22238336" y="1584706"/>
                    <a:pt x="22098000" y="1584706"/>
                  </a:cubicBezTo>
                  <a:lnTo>
                    <a:pt x="254000" y="1584706"/>
                  </a:lnTo>
                  <a:cubicBezTo>
                    <a:pt x="113665" y="1584706"/>
                    <a:pt x="0" y="1471041"/>
                    <a:pt x="0" y="133070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62000" y="5577783"/>
            <a:ext cx="76200" cy="1264739"/>
            <a:chOff x="0" y="0"/>
            <a:chExt cx="101600" cy="16863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50800"/>
              <a:ext cx="1016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101600">
                  <a:moveTo>
                    <a:pt x="101600" y="0"/>
                  </a:moveTo>
                  <a:lnTo>
                    <a:pt x="101600" y="1584706"/>
                  </a:lnTo>
                  <a:lnTo>
                    <a:pt x="0" y="1584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43000" y="5739708"/>
            <a:ext cx="1639976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Pipeline NLP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000" y="6198689"/>
            <a:ext cx="1639976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Extraction entités + Classification + 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2000" y="6937772"/>
            <a:ext cx="16764000" cy="1188539"/>
            <a:chOff x="0" y="0"/>
            <a:chExt cx="22352000" cy="15847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3520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330706"/>
                  </a:lnTo>
                  <a:cubicBezTo>
                    <a:pt x="22352000" y="1471041"/>
                    <a:pt x="22238336" y="1584706"/>
                    <a:pt x="22098000" y="1584706"/>
                  </a:cubicBezTo>
                  <a:lnTo>
                    <a:pt x="254000" y="1584706"/>
                  </a:lnTo>
                  <a:cubicBezTo>
                    <a:pt x="113665" y="1584706"/>
                    <a:pt x="0" y="1471041"/>
                    <a:pt x="0" y="133070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62000" y="6899672"/>
            <a:ext cx="76200" cy="1264739"/>
            <a:chOff x="0" y="0"/>
            <a:chExt cx="101600" cy="16863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50800"/>
              <a:ext cx="1016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101600">
                  <a:moveTo>
                    <a:pt x="101600" y="0"/>
                  </a:moveTo>
                  <a:lnTo>
                    <a:pt x="101600" y="1584706"/>
                  </a:lnTo>
                  <a:lnTo>
                    <a:pt x="0" y="1584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43000" y="7061597"/>
            <a:ext cx="1639976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LLM Local (Ollama + Llama 3.2:3b)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7520578"/>
            <a:ext cx="1639976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Génération SQL intelligente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62000" y="8259661"/>
            <a:ext cx="16764000" cy="1188539"/>
            <a:chOff x="0" y="0"/>
            <a:chExt cx="22352000" cy="1584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3520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330706"/>
                  </a:lnTo>
                  <a:cubicBezTo>
                    <a:pt x="22352000" y="1471041"/>
                    <a:pt x="22238336" y="1584706"/>
                    <a:pt x="22098000" y="1584706"/>
                  </a:cubicBezTo>
                  <a:lnTo>
                    <a:pt x="254000" y="1584706"/>
                  </a:lnTo>
                  <a:cubicBezTo>
                    <a:pt x="113665" y="1584706"/>
                    <a:pt x="0" y="1471041"/>
                    <a:pt x="0" y="133070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62000" y="8221561"/>
            <a:ext cx="76200" cy="1264739"/>
            <a:chOff x="0" y="0"/>
            <a:chExt cx="101600" cy="1686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50800"/>
              <a:ext cx="1016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101600">
                  <a:moveTo>
                    <a:pt x="101600" y="0"/>
                  </a:moveTo>
                  <a:lnTo>
                    <a:pt x="101600" y="1584706"/>
                  </a:lnTo>
                  <a:lnTo>
                    <a:pt x="0" y="1584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43000" y="8383486"/>
            <a:ext cx="1639976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Couche Données (SQLite + ChromaDB)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8842477"/>
            <a:ext cx="1639976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Base relationnelle + Vector store RAG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2000" y="9382125"/>
            <a:ext cx="2084584" cy="15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Architecture en couches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3000975"/>
            <a:ext cx="6054527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PIPELINE DE TRAITEMENT NLP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4382100"/>
            <a:ext cx="5080102" cy="1675800"/>
            <a:chOff x="0" y="0"/>
            <a:chExt cx="6773469" cy="223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418" cy="2234438"/>
            </a:xfrm>
            <a:custGeom>
              <a:avLst/>
              <a:gdLst/>
              <a:ahLst/>
              <a:cxnLst/>
              <a:rect r="r" b="b" t="t" l="l"/>
              <a:pathLst>
                <a:path h="2234438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659753" y="0"/>
                    <a:pt x="6773418" y="113665"/>
                    <a:pt x="6773418" y="254000"/>
                  </a:cubicBezTo>
                  <a:lnTo>
                    <a:pt x="6773418" y="1980438"/>
                  </a:lnTo>
                  <a:cubicBezTo>
                    <a:pt x="6773418" y="2120773"/>
                    <a:pt x="6659753" y="2234438"/>
                    <a:pt x="6519418" y="2234438"/>
                  </a:cubicBezTo>
                  <a:lnTo>
                    <a:pt x="254000" y="2234438"/>
                  </a:lnTo>
                  <a:cubicBezTo>
                    <a:pt x="113665" y="2234438"/>
                    <a:pt x="0" y="2120773"/>
                    <a:pt x="0" y="1980438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4944" y="4496400"/>
            <a:ext cx="475422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4944" y="5084864"/>
            <a:ext cx="4754223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Extraction NER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4944" y="5507536"/>
            <a:ext cx="475422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spaCy: 90%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2602" y="4819945"/>
            <a:ext cx="3886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→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4102" y="4382100"/>
            <a:ext cx="5080102" cy="1675800"/>
            <a:chOff x="0" y="0"/>
            <a:chExt cx="6773469" cy="223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2234438"/>
            </a:xfrm>
            <a:custGeom>
              <a:avLst/>
              <a:gdLst/>
              <a:ahLst/>
              <a:cxnLst/>
              <a:rect r="r" b="b" t="t" l="l"/>
              <a:pathLst>
                <a:path h="2234438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659753" y="0"/>
                    <a:pt x="6773418" y="113665"/>
                    <a:pt x="6773418" y="254000"/>
                  </a:cubicBezTo>
                  <a:lnTo>
                    <a:pt x="6773418" y="1980438"/>
                  </a:lnTo>
                  <a:cubicBezTo>
                    <a:pt x="6773418" y="2120773"/>
                    <a:pt x="6659753" y="2234438"/>
                    <a:pt x="6519418" y="2234438"/>
                  </a:cubicBezTo>
                  <a:lnTo>
                    <a:pt x="254000" y="2234438"/>
                  </a:lnTo>
                  <a:cubicBezTo>
                    <a:pt x="113665" y="2234438"/>
                    <a:pt x="0" y="2120773"/>
                    <a:pt x="0" y="1980438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767036" y="4496400"/>
            <a:ext cx="475422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7036" y="5084864"/>
            <a:ext cx="4754223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7036" y="5507536"/>
            <a:ext cx="475422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Intent: 91%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4694" y="4819945"/>
            <a:ext cx="3886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→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446194" y="4382100"/>
            <a:ext cx="5080102" cy="1675800"/>
            <a:chOff x="0" y="0"/>
            <a:chExt cx="6773469" cy="223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2234438"/>
            </a:xfrm>
            <a:custGeom>
              <a:avLst/>
              <a:gdLst/>
              <a:ahLst/>
              <a:cxnLst/>
              <a:rect r="r" b="b" t="t" l="l"/>
              <a:pathLst>
                <a:path h="2234438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659753" y="0"/>
                    <a:pt x="6773418" y="113665"/>
                    <a:pt x="6773418" y="254000"/>
                  </a:cubicBezTo>
                  <a:lnTo>
                    <a:pt x="6773418" y="1980438"/>
                  </a:lnTo>
                  <a:cubicBezTo>
                    <a:pt x="6773418" y="2120773"/>
                    <a:pt x="6659753" y="2234438"/>
                    <a:pt x="6519418" y="2234438"/>
                  </a:cubicBezTo>
                  <a:lnTo>
                    <a:pt x="254000" y="2234438"/>
                  </a:lnTo>
                  <a:cubicBezTo>
                    <a:pt x="113665" y="2234438"/>
                    <a:pt x="0" y="2120773"/>
                    <a:pt x="0" y="1980438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609138" y="4496400"/>
            <a:ext cx="475422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09138" y="5084864"/>
            <a:ext cx="4754223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RAG Context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09138" y="5507536"/>
            <a:ext cx="475422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ChromaDB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2000" y="6362700"/>
            <a:ext cx="5410200" cy="1675800"/>
            <a:chOff x="0" y="0"/>
            <a:chExt cx="7213600" cy="223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13600" cy="2234438"/>
            </a:xfrm>
            <a:custGeom>
              <a:avLst/>
              <a:gdLst/>
              <a:ahLst/>
              <a:cxnLst/>
              <a:rect r="r" b="b" t="t" l="l"/>
              <a:pathLst>
                <a:path h="2234438" w="721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959600" y="0"/>
                  </a:lnTo>
                  <a:cubicBezTo>
                    <a:pt x="7099935" y="0"/>
                    <a:pt x="7213600" y="113665"/>
                    <a:pt x="7213600" y="254000"/>
                  </a:cubicBezTo>
                  <a:lnTo>
                    <a:pt x="7213600" y="1980438"/>
                  </a:lnTo>
                  <a:cubicBezTo>
                    <a:pt x="7213600" y="2120773"/>
                    <a:pt x="7099935" y="2234438"/>
                    <a:pt x="6959600" y="2234438"/>
                  </a:cubicBezTo>
                  <a:lnTo>
                    <a:pt x="254000" y="2234438"/>
                  </a:lnTo>
                  <a:cubicBezTo>
                    <a:pt x="113665" y="2234438"/>
                    <a:pt x="0" y="2120773"/>
                    <a:pt x="0" y="1980438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21639" y="6477000"/>
            <a:ext cx="509092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1639" y="7065464"/>
            <a:ext cx="509092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Génération SQL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1639" y="7488136"/>
            <a:ext cx="50909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Llama 3.2: 90%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62700" y="6800555"/>
            <a:ext cx="3886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34200" y="6362700"/>
            <a:ext cx="5410200" cy="1675800"/>
            <a:chOff x="0" y="0"/>
            <a:chExt cx="7213600" cy="223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13600" cy="2234438"/>
            </a:xfrm>
            <a:custGeom>
              <a:avLst/>
              <a:gdLst/>
              <a:ahLst/>
              <a:cxnLst/>
              <a:rect r="r" b="b" t="t" l="l"/>
              <a:pathLst>
                <a:path h="2234438" w="721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959600" y="0"/>
                  </a:lnTo>
                  <a:cubicBezTo>
                    <a:pt x="7099935" y="0"/>
                    <a:pt x="7213600" y="113665"/>
                    <a:pt x="7213600" y="254000"/>
                  </a:cubicBezTo>
                  <a:lnTo>
                    <a:pt x="7213600" y="1980438"/>
                  </a:lnTo>
                  <a:cubicBezTo>
                    <a:pt x="7213600" y="2120773"/>
                    <a:pt x="7099935" y="2234438"/>
                    <a:pt x="6959600" y="2234438"/>
                  </a:cubicBezTo>
                  <a:lnTo>
                    <a:pt x="254000" y="2234438"/>
                  </a:lnTo>
                  <a:cubicBezTo>
                    <a:pt x="113665" y="2234438"/>
                    <a:pt x="0" y="2120773"/>
                    <a:pt x="0" y="1980438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093839" y="6477000"/>
            <a:ext cx="509092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3839" y="7065464"/>
            <a:ext cx="509092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Validation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93839" y="7488136"/>
            <a:ext cx="50909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Sécurisé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000" y="9382125"/>
            <a:ext cx="1760934" cy="16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943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Pipeline en 5 étapes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858270"/>
            <a:ext cx="4865489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STACK TECHNOLOGIQUE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3239395"/>
            <a:ext cx="16764000" cy="1096861"/>
            <a:chOff x="0" y="0"/>
            <a:chExt cx="22352000" cy="14624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52000" cy="1462532"/>
            </a:xfrm>
            <a:custGeom>
              <a:avLst/>
              <a:gdLst/>
              <a:ahLst/>
              <a:cxnLst/>
              <a:rect r="r" b="b" t="t" l="l"/>
              <a:pathLst>
                <a:path h="14625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208532"/>
                  </a:lnTo>
                  <a:cubicBezTo>
                    <a:pt x="22352000" y="1348867"/>
                    <a:pt x="22238336" y="1462532"/>
                    <a:pt x="22098000" y="1462532"/>
                  </a:cubicBezTo>
                  <a:lnTo>
                    <a:pt x="254000" y="1462532"/>
                  </a:lnTo>
                  <a:cubicBezTo>
                    <a:pt x="113665" y="1462532"/>
                    <a:pt x="0" y="1348867"/>
                    <a:pt x="0" y="1208532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33450" y="3325120"/>
            <a:ext cx="1674952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Intelligence Artificielle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3450" y="3823992"/>
            <a:ext cx="167495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Ollama | Llama 3.2:3b | ChromaDB | LangChain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2000" y="4450556"/>
            <a:ext cx="16764000" cy="1096861"/>
            <a:chOff x="0" y="0"/>
            <a:chExt cx="22352000" cy="1462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52000" cy="1462532"/>
            </a:xfrm>
            <a:custGeom>
              <a:avLst/>
              <a:gdLst/>
              <a:ahLst/>
              <a:cxnLst/>
              <a:rect r="r" b="b" t="t" l="l"/>
              <a:pathLst>
                <a:path h="14625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208532"/>
                  </a:lnTo>
                  <a:cubicBezTo>
                    <a:pt x="22352000" y="1348867"/>
                    <a:pt x="22238336" y="1462532"/>
                    <a:pt x="22098000" y="1462532"/>
                  </a:cubicBezTo>
                  <a:lnTo>
                    <a:pt x="254000" y="1462532"/>
                  </a:lnTo>
                  <a:cubicBezTo>
                    <a:pt x="113665" y="1462532"/>
                    <a:pt x="0" y="1348867"/>
                    <a:pt x="0" y="1208532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33450" y="4536281"/>
            <a:ext cx="1674952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NLP &amp; Traitement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" y="5035153"/>
            <a:ext cx="167495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spaCy 3.7+ | Sentence Transformers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2000" y="5661717"/>
            <a:ext cx="16764000" cy="1096861"/>
            <a:chOff x="0" y="0"/>
            <a:chExt cx="22352000" cy="14624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52000" cy="1462532"/>
            </a:xfrm>
            <a:custGeom>
              <a:avLst/>
              <a:gdLst/>
              <a:ahLst/>
              <a:cxnLst/>
              <a:rect r="r" b="b" t="t" l="l"/>
              <a:pathLst>
                <a:path h="14625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208532"/>
                  </a:lnTo>
                  <a:cubicBezTo>
                    <a:pt x="22352000" y="1348867"/>
                    <a:pt x="22238336" y="1462532"/>
                    <a:pt x="22098000" y="1462532"/>
                  </a:cubicBezTo>
                  <a:lnTo>
                    <a:pt x="254000" y="1462532"/>
                  </a:lnTo>
                  <a:cubicBezTo>
                    <a:pt x="113665" y="1462532"/>
                    <a:pt x="0" y="1348867"/>
                    <a:pt x="0" y="1208532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33450" y="5747442"/>
            <a:ext cx="1674952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Backend &amp; 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450" y="6246314"/>
            <a:ext cx="167495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FastAPI 0.109+ | Python 3.10+ | Pydantic 2.6+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2000" y="6872878"/>
            <a:ext cx="16764000" cy="1096861"/>
            <a:chOff x="0" y="0"/>
            <a:chExt cx="22352000" cy="14624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52000" cy="1462532"/>
            </a:xfrm>
            <a:custGeom>
              <a:avLst/>
              <a:gdLst/>
              <a:ahLst/>
              <a:cxnLst/>
              <a:rect r="r" b="b" t="t" l="l"/>
              <a:pathLst>
                <a:path h="14625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208532"/>
                  </a:lnTo>
                  <a:cubicBezTo>
                    <a:pt x="22352000" y="1348867"/>
                    <a:pt x="22238336" y="1462532"/>
                    <a:pt x="22098000" y="1462532"/>
                  </a:cubicBezTo>
                  <a:lnTo>
                    <a:pt x="254000" y="1462532"/>
                  </a:lnTo>
                  <a:cubicBezTo>
                    <a:pt x="113665" y="1462532"/>
                    <a:pt x="0" y="1348867"/>
                    <a:pt x="0" y="1208532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33450" y="6958603"/>
            <a:ext cx="1674952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Données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450" y="7457475"/>
            <a:ext cx="167495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SQLite | SQLAlchemy 2.0+ | Pandas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62000" y="8084048"/>
            <a:ext cx="16764000" cy="1096861"/>
            <a:chOff x="0" y="0"/>
            <a:chExt cx="22352000" cy="14624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352000" cy="1462532"/>
            </a:xfrm>
            <a:custGeom>
              <a:avLst/>
              <a:gdLst/>
              <a:ahLst/>
              <a:cxnLst/>
              <a:rect r="r" b="b" t="t" l="l"/>
              <a:pathLst>
                <a:path h="1462532" w="2235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2098000" y="0"/>
                  </a:lnTo>
                  <a:cubicBezTo>
                    <a:pt x="22238336" y="0"/>
                    <a:pt x="22352000" y="113665"/>
                    <a:pt x="22352000" y="254000"/>
                  </a:cubicBezTo>
                  <a:lnTo>
                    <a:pt x="22352000" y="1208532"/>
                  </a:lnTo>
                  <a:cubicBezTo>
                    <a:pt x="22352000" y="1348867"/>
                    <a:pt x="22238336" y="1462532"/>
                    <a:pt x="22098000" y="1462532"/>
                  </a:cubicBezTo>
                  <a:lnTo>
                    <a:pt x="254000" y="1462532"/>
                  </a:lnTo>
                  <a:cubicBezTo>
                    <a:pt x="113665" y="1462532"/>
                    <a:pt x="0" y="1348867"/>
                    <a:pt x="0" y="1208532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33450" y="8169773"/>
            <a:ext cx="16749522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Interface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3450" y="8668645"/>
            <a:ext cx="167495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Streamlit 1.31+ | Plotly 5.18+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2000" y="9305925"/>
            <a:ext cx="2268569" cy="15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Technologies open-source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2389289"/>
            <a:ext cx="5062935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OLLAMA + LLAMA 3.2:3B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3913437"/>
            <a:ext cx="16279530" cy="1390355"/>
            <a:chOff x="0" y="0"/>
            <a:chExt cx="21706040" cy="1853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06039" cy="1853819"/>
            </a:xfrm>
            <a:custGeom>
              <a:avLst/>
              <a:gdLst/>
              <a:ahLst/>
              <a:cxnLst/>
              <a:rect r="r" b="b" t="t" l="l"/>
              <a:pathLst>
                <a:path h="1853819" w="21706039">
                  <a:moveTo>
                    <a:pt x="0" y="203200"/>
                  </a:moveTo>
                  <a:cubicBezTo>
                    <a:pt x="0" y="90932"/>
                    <a:pt x="365683" y="0"/>
                    <a:pt x="817169" y="0"/>
                  </a:cubicBezTo>
                  <a:lnTo>
                    <a:pt x="20888872" y="0"/>
                  </a:lnTo>
                  <a:cubicBezTo>
                    <a:pt x="21340356" y="0"/>
                    <a:pt x="21706039" y="90932"/>
                    <a:pt x="21706039" y="203200"/>
                  </a:cubicBezTo>
                  <a:lnTo>
                    <a:pt x="21706039" y="1650619"/>
                  </a:lnTo>
                  <a:cubicBezTo>
                    <a:pt x="21706039" y="1762887"/>
                    <a:pt x="21340356" y="1853819"/>
                    <a:pt x="20888872" y="1853819"/>
                  </a:cubicBezTo>
                  <a:lnTo>
                    <a:pt x="817169" y="1853819"/>
                  </a:lnTo>
                  <a:cubicBezTo>
                    <a:pt x="365683" y="1853819"/>
                    <a:pt x="0" y="1762887"/>
                    <a:pt x="0" y="1650619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143000" y="4018064"/>
            <a:ext cx="1632204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LLM 100% Local et Gratuit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751489"/>
            <a:ext cx="163220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>
                    <a:alpha val="89804"/>
                  </a:srgb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Meta Llama 3.2:3b optimisé pour SQL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2000" y="5743870"/>
            <a:ext cx="4048125" cy="1390355"/>
            <a:chOff x="0" y="0"/>
            <a:chExt cx="5397500" cy="1853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7500" cy="1853819"/>
            </a:xfrm>
            <a:custGeom>
              <a:avLst/>
              <a:gdLst/>
              <a:ahLst/>
              <a:cxnLst/>
              <a:rect r="r" b="b" t="t" l="l"/>
              <a:pathLst>
                <a:path h="1853819" w="53975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194300" y="0"/>
                  </a:lnTo>
                  <a:cubicBezTo>
                    <a:pt x="5306568" y="0"/>
                    <a:pt x="5397500" y="90932"/>
                    <a:pt x="5397500" y="203200"/>
                  </a:cubicBezTo>
                  <a:lnTo>
                    <a:pt x="5397500" y="1650619"/>
                  </a:lnTo>
                  <a:cubicBezTo>
                    <a:pt x="5397500" y="1762887"/>
                    <a:pt x="5306568" y="1853819"/>
                    <a:pt x="5194300" y="1853819"/>
                  </a:cubicBezTo>
                  <a:lnTo>
                    <a:pt x="203200" y="1853819"/>
                  </a:lnTo>
                  <a:cubicBezTo>
                    <a:pt x="90932" y="1853819"/>
                    <a:pt x="0" y="1762887"/>
                    <a:pt x="0" y="1650619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54691" y="5829595"/>
            <a:ext cx="3662744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3B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691" y="6564811"/>
            <a:ext cx="366274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Paramètres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00625" y="5743870"/>
            <a:ext cx="4048125" cy="1390355"/>
            <a:chOff x="0" y="0"/>
            <a:chExt cx="5397500" cy="18538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7500" cy="1853819"/>
            </a:xfrm>
            <a:custGeom>
              <a:avLst/>
              <a:gdLst/>
              <a:ahLst/>
              <a:cxnLst/>
              <a:rect r="r" b="b" t="t" l="l"/>
              <a:pathLst>
                <a:path h="1853819" w="53975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194300" y="0"/>
                  </a:lnTo>
                  <a:cubicBezTo>
                    <a:pt x="5306568" y="0"/>
                    <a:pt x="5397500" y="90932"/>
                    <a:pt x="5397500" y="203200"/>
                  </a:cubicBezTo>
                  <a:lnTo>
                    <a:pt x="5397500" y="1650619"/>
                  </a:lnTo>
                  <a:cubicBezTo>
                    <a:pt x="5397500" y="1762887"/>
                    <a:pt x="5306568" y="1853819"/>
                    <a:pt x="5194300" y="1853819"/>
                  </a:cubicBezTo>
                  <a:lnTo>
                    <a:pt x="203200" y="1853819"/>
                  </a:lnTo>
                  <a:cubicBezTo>
                    <a:pt x="90932" y="1853819"/>
                    <a:pt x="0" y="1762887"/>
                    <a:pt x="0" y="1650619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193316" y="5829595"/>
            <a:ext cx="3662744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90%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93316" y="6564811"/>
            <a:ext cx="366274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Précision SQL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9250" y="5743870"/>
            <a:ext cx="4048125" cy="1390355"/>
            <a:chOff x="0" y="0"/>
            <a:chExt cx="5397500" cy="1853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7500" cy="1853819"/>
            </a:xfrm>
            <a:custGeom>
              <a:avLst/>
              <a:gdLst/>
              <a:ahLst/>
              <a:cxnLst/>
              <a:rect r="r" b="b" t="t" l="l"/>
              <a:pathLst>
                <a:path h="1853819" w="53975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194300" y="0"/>
                  </a:lnTo>
                  <a:cubicBezTo>
                    <a:pt x="5306568" y="0"/>
                    <a:pt x="5397500" y="90932"/>
                    <a:pt x="5397500" y="203200"/>
                  </a:cubicBezTo>
                  <a:lnTo>
                    <a:pt x="5397500" y="1650619"/>
                  </a:lnTo>
                  <a:cubicBezTo>
                    <a:pt x="5397500" y="1762887"/>
                    <a:pt x="5306568" y="1853819"/>
                    <a:pt x="5194300" y="1853819"/>
                  </a:cubicBezTo>
                  <a:lnTo>
                    <a:pt x="203200" y="1853819"/>
                  </a:lnTo>
                  <a:cubicBezTo>
                    <a:pt x="90932" y="1853819"/>
                    <a:pt x="0" y="1762887"/>
                    <a:pt x="0" y="1650619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431941" y="5829595"/>
            <a:ext cx="3662744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2-5s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1941" y="6564811"/>
            <a:ext cx="366274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Temps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77875" y="5743870"/>
            <a:ext cx="4048125" cy="1390355"/>
            <a:chOff x="0" y="0"/>
            <a:chExt cx="5397500" cy="18538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97500" cy="1853819"/>
            </a:xfrm>
            <a:custGeom>
              <a:avLst/>
              <a:gdLst/>
              <a:ahLst/>
              <a:cxnLst/>
              <a:rect r="r" b="b" t="t" l="l"/>
              <a:pathLst>
                <a:path h="1853819" w="53975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194300" y="0"/>
                  </a:lnTo>
                  <a:cubicBezTo>
                    <a:pt x="5306568" y="0"/>
                    <a:pt x="5397500" y="90932"/>
                    <a:pt x="5397500" y="203200"/>
                  </a:cubicBezTo>
                  <a:lnTo>
                    <a:pt x="5397500" y="1650619"/>
                  </a:lnTo>
                  <a:cubicBezTo>
                    <a:pt x="5397500" y="1762887"/>
                    <a:pt x="5306568" y="1853819"/>
                    <a:pt x="5194300" y="1853819"/>
                  </a:cubicBezTo>
                  <a:lnTo>
                    <a:pt x="203200" y="1853819"/>
                  </a:lnTo>
                  <a:cubicBezTo>
                    <a:pt x="90932" y="1853819"/>
                    <a:pt x="0" y="1762887"/>
                    <a:pt x="0" y="1650619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670566" y="5829595"/>
            <a:ext cx="3662744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4GB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70566" y="6564811"/>
            <a:ext cx="366274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RAM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62000" y="7400925"/>
            <a:ext cx="8267700" cy="1249261"/>
            <a:chOff x="0" y="0"/>
            <a:chExt cx="11023600" cy="16656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23600" cy="1665732"/>
            </a:xfrm>
            <a:custGeom>
              <a:avLst/>
              <a:gdLst/>
              <a:ahLst/>
              <a:cxnLst/>
              <a:rect r="r" b="b" t="t" l="l"/>
              <a:pathLst>
                <a:path h="1665732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462532"/>
                  </a:lnTo>
                  <a:cubicBezTo>
                    <a:pt x="11023600" y="1574800"/>
                    <a:pt x="10932668" y="1665732"/>
                    <a:pt x="10820400" y="1665732"/>
                  </a:cubicBezTo>
                  <a:lnTo>
                    <a:pt x="203200" y="1665732"/>
                  </a:lnTo>
                  <a:cubicBezTo>
                    <a:pt x="90932" y="1665732"/>
                    <a:pt x="0" y="1574800"/>
                    <a:pt x="0" y="1462532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90600" y="7581900"/>
            <a:ext cx="796671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Avantages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8090297"/>
            <a:ext cx="7966710" cy="28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1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100% gratuit | Données privées | Fonctionne offline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58300" y="7400925"/>
            <a:ext cx="8267700" cy="1249261"/>
            <a:chOff x="0" y="0"/>
            <a:chExt cx="11023600" cy="16656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23600" cy="1665732"/>
            </a:xfrm>
            <a:custGeom>
              <a:avLst/>
              <a:gdLst/>
              <a:ahLst/>
              <a:cxnLst/>
              <a:rect r="r" b="b" t="t" l="l"/>
              <a:pathLst>
                <a:path h="1665732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462532"/>
                  </a:lnTo>
                  <a:cubicBezTo>
                    <a:pt x="11023600" y="1574800"/>
                    <a:pt x="10932668" y="1665732"/>
                    <a:pt x="10820400" y="1665732"/>
                  </a:cubicBezTo>
                  <a:lnTo>
                    <a:pt x="203200" y="1665732"/>
                  </a:lnTo>
                  <a:cubicBezTo>
                    <a:pt x="90932" y="1665732"/>
                    <a:pt x="0" y="1574800"/>
                    <a:pt x="0" y="1462532"/>
                  </a:cubicBezTo>
                  <a:close/>
                </a:path>
              </a:pathLst>
            </a:custGeom>
            <a:solidFill>
              <a:srgbClr val="FFBE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486900" y="7581900"/>
            <a:ext cx="796671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Considérations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6900" y="8080772"/>
            <a:ext cx="796671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Requêtes complexes: 60-120s | CPU intensif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000" y="9391650"/>
            <a:ext cx="2138620" cy="14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Infrastructure LLM locale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2850356"/>
            <a:ext cx="6408241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FONCTIONNALITÉS PRINCIPALES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4231481"/>
            <a:ext cx="5461102" cy="1230211"/>
            <a:chOff x="0" y="0"/>
            <a:chExt cx="7281469" cy="16402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33425" y="4231481"/>
            <a:ext cx="5518252" cy="57150"/>
            <a:chOff x="0" y="0"/>
            <a:chExt cx="7357669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90600" y="4431506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Langage Naturel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4892278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Questions comme conversation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13602" y="4231481"/>
            <a:ext cx="5461102" cy="1230211"/>
            <a:chOff x="0" y="0"/>
            <a:chExt cx="7281469" cy="16402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85027" y="4231481"/>
            <a:ext cx="5518252" cy="57150"/>
            <a:chOff x="0" y="0"/>
            <a:chExt cx="7357669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642202" y="4431506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SQL Automatique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42202" y="4892278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Conversion intelligente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65194" y="4231481"/>
            <a:ext cx="5461102" cy="1230211"/>
            <a:chOff x="0" y="0"/>
            <a:chExt cx="7281469" cy="16402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036619" y="4231481"/>
            <a:ext cx="5518252" cy="57150"/>
            <a:chOff x="0" y="0"/>
            <a:chExt cx="7357669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293794" y="4431506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NER Précis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3794" y="4892278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Extraction entités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2000" y="5595042"/>
            <a:ext cx="5461102" cy="1230211"/>
            <a:chOff x="0" y="0"/>
            <a:chExt cx="7281469" cy="16402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33425" y="5595042"/>
            <a:ext cx="5518252" cy="57150"/>
            <a:chOff x="0" y="0"/>
            <a:chExt cx="7357669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90600" y="5795067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RAG Context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6255839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Few-shot learning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413602" y="5595042"/>
            <a:ext cx="5461102" cy="1230211"/>
            <a:chOff x="0" y="0"/>
            <a:chExt cx="7281469" cy="16402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385027" y="5595042"/>
            <a:ext cx="5518252" cy="57150"/>
            <a:chOff x="0" y="0"/>
            <a:chExt cx="7357669" cy="76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6642202" y="5795067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Validation SQL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42202" y="6255839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Sécurité garantie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065194" y="5595042"/>
            <a:ext cx="5461102" cy="1230211"/>
            <a:chOff x="0" y="0"/>
            <a:chExt cx="7281469" cy="16402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036619" y="5595042"/>
            <a:ext cx="5518252" cy="57150"/>
            <a:chOff x="0" y="0"/>
            <a:chExt cx="7357669" cy="7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293794" y="5795067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Explications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93794" y="6255839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Compréhension claire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62000" y="6958613"/>
            <a:ext cx="5461102" cy="1230211"/>
            <a:chOff x="0" y="0"/>
            <a:chExt cx="7281469" cy="16402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33425" y="6958603"/>
            <a:ext cx="5518252" cy="57150"/>
            <a:chOff x="0" y="0"/>
            <a:chExt cx="7357669" cy="76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90600" y="7158638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Interface Web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0600" y="7619409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Streamlit intuitive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413602" y="6958613"/>
            <a:ext cx="5461102" cy="1230211"/>
            <a:chOff x="0" y="0"/>
            <a:chExt cx="7281469" cy="164028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385027" y="6958603"/>
            <a:ext cx="5518252" cy="57150"/>
            <a:chOff x="0" y="0"/>
            <a:chExt cx="7357669" cy="76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6642202" y="7158638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API REST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42202" y="7619409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Intégration facile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065194" y="6958613"/>
            <a:ext cx="5461102" cy="1230211"/>
            <a:chOff x="0" y="0"/>
            <a:chExt cx="7281469" cy="164028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81418" cy="1640332"/>
            </a:xfrm>
            <a:custGeom>
              <a:avLst/>
              <a:gdLst/>
              <a:ahLst/>
              <a:cxnLst/>
              <a:rect r="r" b="b" t="t" l="l"/>
              <a:pathLst>
                <a:path h="1640332" w="7281418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078218" y="0"/>
                  </a:lnTo>
                  <a:cubicBezTo>
                    <a:pt x="7190487" y="0"/>
                    <a:pt x="7281418" y="90932"/>
                    <a:pt x="7281418" y="203200"/>
                  </a:cubicBezTo>
                  <a:lnTo>
                    <a:pt x="7281418" y="1437132"/>
                  </a:lnTo>
                  <a:cubicBezTo>
                    <a:pt x="7281418" y="1549400"/>
                    <a:pt x="7190487" y="1640332"/>
                    <a:pt x="7078218" y="1640332"/>
                  </a:cubicBezTo>
                  <a:lnTo>
                    <a:pt x="203200" y="1640332"/>
                  </a:lnTo>
                  <a:cubicBezTo>
                    <a:pt x="90932" y="1640332"/>
                    <a:pt x="0" y="1549400"/>
                    <a:pt x="0" y="1437132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036619" y="6958603"/>
            <a:ext cx="5518252" cy="57150"/>
            <a:chOff x="0" y="0"/>
            <a:chExt cx="7357669" cy="76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2293794" y="7158638"/>
            <a:ext cx="510398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Historique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293794" y="7619409"/>
            <a:ext cx="51039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Suivi requêtes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62000" y="9391650"/>
            <a:ext cx="1804045" cy="14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9 fonctionnalités clés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791291"/>
            <a:ext cx="5029994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INTERFACE UTILISATEUR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950" y="3153366"/>
            <a:ext cx="16802100" cy="5107781"/>
            <a:chOff x="0" y="0"/>
            <a:chExt cx="22402800" cy="68103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5400" y="25400"/>
              <a:ext cx="22352000" cy="6759575"/>
            </a:xfrm>
            <a:custGeom>
              <a:avLst/>
              <a:gdLst/>
              <a:ahLst/>
              <a:cxnLst/>
              <a:rect r="r" b="b" t="t" l="l"/>
              <a:pathLst>
                <a:path h="6759575" w="22352000">
                  <a:moveTo>
                    <a:pt x="0" y="304800"/>
                  </a:moveTo>
                  <a:cubicBezTo>
                    <a:pt x="0" y="136398"/>
                    <a:pt x="137160" y="0"/>
                    <a:pt x="306324" y="0"/>
                  </a:cubicBezTo>
                  <a:lnTo>
                    <a:pt x="22045676" y="0"/>
                  </a:lnTo>
                  <a:cubicBezTo>
                    <a:pt x="22214839" y="0"/>
                    <a:pt x="22352000" y="136398"/>
                    <a:pt x="22352000" y="304800"/>
                  </a:cubicBezTo>
                  <a:lnTo>
                    <a:pt x="22352000" y="6454775"/>
                  </a:lnTo>
                  <a:cubicBezTo>
                    <a:pt x="22352000" y="6623050"/>
                    <a:pt x="22214839" y="6759575"/>
                    <a:pt x="22045676" y="6759575"/>
                  </a:cubicBezTo>
                  <a:lnTo>
                    <a:pt x="306324" y="6759575"/>
                  </a:lnTo>
                  <a:cubicBezTo>
                    <a:pt x="137160" y="6759575"/>
                    <a:pt x="0" y="6623177"/>
                    <a:pt x="0" y="6454775"/>
                  </a:cubicBezTo>
                  <a:close/>
                </a:path>
              </a:pathLst>
            </a:custGeom>
            <a:solidFill>
              <a:srgbClr val="F4F3F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02800" cy="6810375"/>
            </a:xfrm>
            <a:custGeom>
              <a:avLst/>
              <a:gdLst/>
              <a:ahLst/>
              <a:cxnLst/>
              <a:rect r="r" b="b" t="t" l="l"/>
              <a:pathLst>
                <a:path h="6810375" w="22402800">
                  <a:moveTo>
                    <a:pt x="0" y="330200"/>
                  </a:moveTo>
                  <a:cubicBezTo>
                    <a:pt x="0" y="147701"/>
                    <a:pt x="148717" y="0"/>
                    <a:pt x="331724" y="0"/>
                  </a:cubicBezTo>
                  <a:lnTo>
                    <a:pt x="22071076" y="0"/>
                  </a:lnTo>
                  <a:lnTo>
                    <a:pt x="22071076" y="25400"/>
                  </a:lnTo>
                  <a:lnTo>
                    <a:pt x="22071076" y="0"/>
                  </a:lnTo>
                  <a:cubicBezTo>
                    <a:pt x="22254083" y="0"/>
                    <a:pt x="22402800" y="147701"/>
                    <a:pt x="22402800" y="330200"/>
                  </a:cubicBezTo>
                  <a:lnTo>
                    <a:pt x="22377400" y="330200"/>
                  </a:lnTo>
                  <a:lnTo>
                    <a:pt x="22402800" y="330200"/>
                  </a:lnTo>
                  <a:lnTo>
                    <a:pt x="22402800" y="6480175"/>
                  </a:lnTo>
                  <a:lnTo>
                    <a:pt x="22377400" y="6480175"/>
                  </a:lnTo>
                  <a:lnTo>
                    <a:pt x="22402800" y="6480175"/>
                  </a:lnTo>
                  <a:cubicBezTo>
                    <a:pt x="22402800" y="6662674"/>
                    <a:pt x="22254083" y="6810375"/>
                    <a:pt x="22071076" y="6810375"/>
                  </a:cubicBezTo>
                  <a:lnTo>
                    <a:pt x="22071076" y="6784975"/>
                  </a:lnTo>
                  <a:lnTo>
                    <a:pt x="22071076" y="6810375"/>
                  </a:lnTo>
                  <a:lnTo>
                    <a:pt x="331724" y="6810375"/>
                  </a:lnTo>
                  <a:lnTo>
                    <a:pt x="331724" y="6784975"/>
                  </a:lnTo>
                  <a:lnTo>
                    <a:pt x="331724" y="6810375"/>
                  </a:lnTo>
                  <a:cubicBezTo>
                    <a:pt x="148590" y="6810375"/>
                    <a:pt x="0" y="6662674"/>
                    <a:pt x="0" y="6480175"/>
                  </a:cubicBezTo>
                  <a:lnTo>
                    <a:pt x="0" y="330200"/>
                  </a:lnTo>
                  <a:lnTo>
                    <a:pt x="25400" y="330200"/>
                  </a:lnTo>
                  <a:lnTo>
                    <a:pt x="0" y="330200"/>
                  </a:lnTo>
                  <a:moveTo>
                    <a:pt x="50800" y="330200"/>
                  </a:moveTo>
                  <a:lnTo>
                    <a:pt x="50800" y="6480175"/>
                  </a:lnTo>
                  <a:lnTo>
                    <a:pt x="25400" y="6480175"/>
                  </a:lnTo>
                  <a:lnTo>
                    <a:pt x="50800" y="6480175"/>
                  </a:lnTo>
                  <a:cubicBezTo>
                    <a:pt x="50800" y="6634353"/>
                    <a:pt x="176530" y="6759575"/>
                    <a:pt x="331724" y="6759575"/>
                  </a:cubicBezTo>
                  <a:lnTo>
                    <a:pt x="22071076" y="6759575"/>
                  </a:lnTo>
                  <a:cubicBezTo>
                    <a:pt x="22226397" y="6759575"/>
                    <a:pt x="22352000" y="6634353"/>
                    <a:pt x="22352000" y="6480175"/>
                  </a:cubicBezTo>
                  <a:lnTo>
                    <a:pt x="22352000" y="330200"/>
                  </a:lnTo>
                  <a:cubicBezTo>
                    <a:pt x="22352000" y="176022"/>
                    <a:pt x="22226270" y="50800"/>
                    <a:pt x="22071076" y="50800"/>
                  </a:cubicBezTo>
                  <a:lnTo>
                    <a:pt x="331724" y="50800"/>
                  </a:lnTo>
                  <a:lnTo>
                    <a:pt x="331724" y="25400"/>
                  </a:lnTo>
                  <a:lnTo>
                    <a:pt x="331724" y="50800"/>
                  </a:lnTo>
                  <a:cubicBezTo>
                    <a:pt x="176530" y="50800"/>
                    <a:pt x="50800" y="176022"/>
                    <a:pt x="50800" y="330200"/>
                  </a:cubicBezTo>
                  <a:close/>
                </a:path>
              </a:pathLst>
            </a:custGeom>
            <a:solidFill>
              <a:srgbClr val="47556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" y="3553416"/>
            <a:ext cx="16002000" cy="727472"/>
            <a:chOff x="0" y="0"/>
            <a:chExt cx="21336000" cy="9699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00" cy="969899"/>
            </a:xfrm>
            <a:custGeom>
              <a:avLst/>
              <a:gdLst/>
              <a:ahLst/>
              <a:cxnLst/>
              <a:rect r="r" b="b" t="t" l="l"/>
              <a:pathLst>
                <a:path h="969899" w="2133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183600" y="0"/>
                  </a:lnTo>
                  <a:cubicBezTo>
                    <a:pt x="21267801" y="0"/>
                    <a:pt x="21336000" y="68199"/>
                    <a:pt x="21336000" y="152400"/>
                  </a:cubicBezTo>
                  <a:lnTo>
                    <a:pt x="21336000" y="817499"/>
                  </a:lnTo>
                  <a:cubicBezTo>
                    <a:pt x="21336000" y="901700"/>
                    <a:pt x="21267801" y="969899"/>
                    <a:pt x="21183600" y="969899"/>
                  </a:cubicBezTo>
                  <a:lnTo>
                    <a:pt x="152400" y="969899"/>
                  </a:lnTo>
                  <a:cubicBezTo>
                    <a:pt x="68199" y="969899"/>
                    <a:pt x="0" y="901700"/>
                    <a:pt x="0" y="81749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33500" y="3658191"/>
            <a:ext cx="1593342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DataGenie AI - Assistant BI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3950" y="4414237"/>
            <a:ext cx="16040100" cy="841772"/>
            <a:chOff x="0" y="0"/>
            <a:chExt cx="21386800" cy="11223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21336000" cy="1071626"/>
            </a:xfrm>
            <a:custGeom>
              <a:avLst/>
              <a:gdLst/>
              <a:ahLst/>
              <a:cxnLst/>
              <a:rect r="r" b="b" t="t" l="l"/>
              <a:pathLst>
                <a:path h="1071626" w="21336000">
                  <a:moveTo>
                    <a:pt x="0" y="152400"/>
                  </a:moveTo>
                  <a:cubicBezTo>
                    <a:pt x="0" y="68199"/>
                    <a:pt x="71247" y="0"/>
                    <a:pt x="159258" y="0"/>
                  </a:cubicBezTo>
                  <a:lnTo>
                    <a:pt x="21176742" y="0"/>
                  </a:lnTo>
                  <a:cubicBezTo>
                    <a:pt x="21264753" y="0"/>
                    <a:pt x="21336000" y="68199"/>
                    <a:pt x="21336000" y="152400"/>
                  </a:cubicBezTo>
                  <a:lnTo>
                    <a:pt x="21336000" y="919226"/>
                  </a:lnTo>
                  <a:cubicBezTo>
                    <a:pt x="21336000" y="1003427"/>
                    <a:pt x="21264753" y="1071626"/>
                    <a:pt x="21176742" y="1071626"/>
                  </a:cubicBezTo>
                  <a:lnTo>
                    <a:pt x="159258" y="1071626"/>
                  </a:lnTo>
                  <a:cubicBezTo>
                    <a:pt x="71247" y="1071626"/>
                    <a:pt x="0" y="1003300"/>
                    <a:pt x="0" y="919226"/>
                  </a:cubicBez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86800" cy="1122426"/>
            </a:xfrm>
            <a:custGeom>
              <a:avLst/>
              <a:gdLst/>
              <a:ahLst/>
              <a:cxnLst/>
              <a:rect r="r" b="b" t="t" l="l"/>
              <a:pathLst>
                <a:path h="1122426" w="21386800">
                  <a:moveTo>
                    <a:pt x="0" y="177800"/>
                  </a:moveTo>
                  <a:cubicBezTo>
                    <a:pt x="0" y="78613"/>
                    <a:pt x="83693" y="0"/>
                    <a:pt x="184658" y="0"/>
                  </a:cubicBezTo>
                  <a:lnTo>
                    <a:pt x="21202142" y="0"/>
                  </a:lnTo>
                  <a:lnTo>
                    <a:pt x="21202142" y="25400"/>
                  </a:lnTo>
                  <a:lnTo>
                    <a:pt x="21202142" y="0"/>
                  </a:lnTo>
                  <a:cubicBezTo>
                    <a:pt x="21303106" y="0"/>
                    <a:pt x="21386800" y="78613"/>
                    <a:pt x="21386800" y="177800"/>
                  </a:cubicBezTo>
                  <a:lnTo>
                    <a:pt x="21361400" y="177800"/>
                  </a:lnTo>
                  <a:lnTo>
                    <a:pt x="21386800" y="177800"/>
                  </a:lnTo>
                  <a:lnTo>
                    <a:pt x="21386800" y="944626"/>
                  </a:lnTo>
                  <a:lnTo>
                    <a:pt x="21361400" y="944626"/>
                  </a:lnTo>
                  <a:lnTo>
                    <a:pt x="21386800" y="944626"/>
                  </a:lnTo>
                  <a:cubicBezTo>
                    <a:pt x="21386800" y="1043813"/>
                    <a:pt x="21303106" y="1122426"/>
                    <a:pt x="21202142" y="1122426"/>
                  </a:cubicBezTo>
                  <a:lnTo>
                    <a:pt x="21202142" y="1097026"/>
                  </a:lnTo>
                  <a:lnTo>
                    <a:pt x="21202142" y="1122426"/>
                  </a:lnTo>
                  <a:lnTo>
                    <a:pt x="184658" y="1122426"/>
                  </a:lnTo>
                  <a:lnTo>
                    <a:pt x="184658" y="1097026"/>
                  </a:lnTo>
                  <a:lnTo>
                    <a:pt x="184658" y="1122426"/>
                  </a:lnTo>
                  <a:cubicBezTo>
                    <a:pt x="83693" y="1122426"/>
                    <a:pt x="0" y="1043813"/>
                    <a:pt x="0" y="944626"/>
                  </a:cubicBezTo>
                  <a:lnTo>
                    <a:pt x="0" y="177800"/>
                  </a:lnTo>
                  <a:lnTo>
                    <a:pt x="25400" y="177800"/>
                  </a:lnTo>
                  <a:lnTo>
                    <a:pt x="0" y="177800"/>
                  </a:lnTo>
                  <a:moveTo>
                    <a:pt x="50800" y="177800"/>
                  </a:moveTo>
                  <a:lnTo>
                    <a:pt x="50800" y="944626"/>
                  </a:lnTo>
                  <a:lnTo>
                    <a:pt x="25400" y="944626"/>
                  </a:lnTo>
                  <a:lnTo>
                    <a:pt x="50800" y="944626"/>
                  </a:lnTo>
                  <a:cubicBezTo>
                    <a:pt x="50800" y="1013714"/>
                    <a:pt x="109601" y="1071626"/>
                    <a:pt x="184658" y="1071626"/>
                  </a:cubicBezTo>
                  <a:lnTo>
                    <a:pt x="21202142" y="1071626"/>
                  </a:lnTo>
                  <a:cubicBezTo>
                    <a:pt x="21277072" y="1071626"/>
                    <a:pt x="21336000" y="1013714"/>
                    <a:pt x="21336000" y="944626"/>
                  </a:cubicBezTo>
                  <a:lnTo>
                    <a:pt x="21336000" y="177800"/>
                  </a:lnTo>
                  <a:cubicBezTo>
                    <a:pt x="21336000" y="108712"/>
                    <a:pt x="21277199" y="50800"/>
                    <a:pt x="21202142" y="50800"/>
                  </a:cubicBezTo>
                  <a:lnTo>
                    <a:pt x="184658" y="50800"/>
                  </a:lnTo>
                  <a:lnTo>
                    <a:pt x="184658" y="25400"/>
                  </a:lnTo>
                  <a:lnTo>
                    <a:pt x="184658" y="50800"/>
                  </a:lnTo>
                  <a:cubicBezTo>
                    <a:pt x="109601" y="50800"/>
                    <a:pt x="50800" y="108712"/>
                    <a:pt x="50800" y="177800"/>
                  </a:cubicBezTo>
                  <a:close/>
                </a:path>
              </a:pathLst>
            </a:custGeom>
            <a:solidFill>
              <a:srgbClr val="0EA5E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71600" y="4576162"/>
            <a:ext cx="15855696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4F3F3"/>
                </a:solidFill>
                <a:latin typeface="Ballpoint"/>
                <a:ea typeface="Ballpoint"/>
                <a:cs typeface="Ballpoint"/>
                <a:sym typeface="Ballpoint"/>
              </a:rPr>
              <a:t>Show me total revenue by region for last quarter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5322684"/>
            <a:ext cx="1632204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Confiance: 92% | Intent: Aggregation | Temps: 2.3s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5796858"/>
            <a:ext cx="16002000" cy="2064248"/>
            <a:chOff x="0" y="0"/>
            <a:chExt cx="21336000" cy="27523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2752344"/>
            </a:xfrm>
            <a:custGeom>
              <a:avLst/>
              <a:gdLst/>
              <a:ahLst/>
              <a:cxnLst/>
              <a:rect r="r" b="b" t="t" l="l"/>
              <a:pathLst>
                <a:path h="2752344" w="2133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183600" y="0"/>
                  </a:lnTo>
                  <a:cubicBezTo>
                    <a:pt x="21267801" y="0"/>
                    <a:pt x="21336000" y="68199"/>
                    <a:pt x="21336000" y="152400"/>
                  </a:cubicBezTo>
                  <a:lnTo>
                    <a:pt x="21336000" y="2599944"/>
                  </a:lnTo>
                  <a:cubicBezTo>
                    <a:pt x="21336000" y="2684145"/>
                    <a:pt x="21267801" y="2752344"/>
                    <a:pt x="21183600" y="2752344"/>
                  </a:cubicBezTo>
                  <a:lnTo>
                    <a:pt x="152400" y="2752344"/>
                  </a:lnTo>
                  <a:cubicBezTo>
                    <a:pt x="68199" y="2752344"/>
                    <a:pt x="0" y="2684145"/>
                    <a:pt x="0" y="2599944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5758758"/>
            <a:ext cx="76200" cy="2140448"/>
            <a:chOff x="0" y="0"/>
            <a:chExt cx="101600" cy="28539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800"/>
              <a:ext cx="101600" cy="2752344"/>
            </a:xfrm>
            <a:custGeom>
              <a:avLst/>
              <a:gdLst/>
              <a:ahLst/>
              <a:cxnLst/>
              <a:rect r="r" b="b" t="t" l="l"/>
              <a:pathLst>
                <a:path h="2752344" w="101600">
                  <a:moveTo>
                    <a:pt x="101600" y="0"/>
                  </a:moveTo>
                  <a:lnTo>
                    <a:pt x="101600" y="2752344"/>
                  </a:lnTo>
                  <a:lnTo>
                    <a:pt x="0" y="27523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8F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47800" y="5949258"/>
            <a:ext cx="1577797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SQL Généré: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7800" y="6412116"/>
            <a:ext cx="15777972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SELECT c.region, SUM(s.revenue) as total_revenue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FROM sales s JOIN customers c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WHERE sale_date &gt;= date('now', '-3 months')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GROUP BY c.region ORDER BY total_revenue DESC;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2000" y="8470706"/>
            <a:ext cx="16764000" cy="777183"/>
            <a:chOff x="0" y="0"/>
            <a:chExt cx="22352000" cy="1036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52000" cy="1036193"/>
            </a:xfrm>
            <a:custGeom>
              <a:avLst/>
              <a:gdLst/>
              <a:ahLst/>
              <a:cxnLst/>
              <a:rect r="r" b="b" t="t" l="l"/>
              <a:pathLst>
                <a:path h="1036193" w="22352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2148800" y="0"/>
                  </a:lnTo>
                  <a:cubicBezTo>
                    <a:pt x="22261068" y="0"/>
                    <a:pt x="22352000" y="90932"/>
                    <a:pt x="22352000" y="203200"/>
                  </a:cubicBezTo>
                  <a:lnTo>
                    <a:pt x="22352000" y="832993"/>
                  </a:lnTo>
                  <a:cubicBezTo>
                    <a:pt x="22352000" y="945261"/>
                    <a:pt x="22261068" y="1036193"/>
                    <a:pt x="22148800" y="1036193"/>
                  </a:cubicBezTo>
                  <a:lnTo>
                    <a:pt x="203200" y="1036193"/>
                  </a:lnTo>
                  <a:cubicBezTo>
                    <a:pt x="90932" y="1036193"/>
                    <a:pt x="0" y="945261"/>
                    <a:pt x="0" y="832993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90600" y="8623106"/>
            <a:ext cx="16632936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Interface responsive | Métriques en temps réel | Export SQL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2000" y="9391650"/>
            <a:ext cx="2289515" cy="14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Interface Streamlit intuitive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2661647"/>
            <a:ext cx="4930080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EXEMPLES DE REQUÊTES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000" y="3957047"/>
            <a:ext cx="843305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Requêtes Simples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4606528"/>
            <a:ext cx="8267700" cy="700983"/>
            <a:chOff x="0" y="0"/>
            <a:chExt cx="11023600" cy="9346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23600" cy="934593"/>
            </a:xfrm>
            <a:custGeom>
              <a:avLst/>
              <a:gdLst/>
              <a:ahLst/>
              <a:cxnLst/>
              <a:rect r="r" b="b" t="t" l="l"/>
              <a:pathLst>
                <a:path h="9345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731393"/>
                  </a:lnTo>
                  <a:cubicBezTo>
                    <a:pt x="11023600" y="843661"/>
                    <a:pt x="10932668" y="934593"/>
                    <a:pt x="10820400" y="934593"/>
                  </a:cubicBezTo>
                  <a:lnTo>
                    <a:pt x="203200" y="934593"/>
                  </a:lnTo>
                  <a:cubicBezTo>
                    <a:pt x="90932" y="934593"/>
                    <a:pt x="0" y="843661"/>
                    <a:pt x="0" y="7313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2500" y="4720828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Show me total revenue (2s)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2000" y="5459911"/>
            <a:ext cx="8267700" cy="700983"/>
            <a:chOff x="0" y="0"/>
            <a:chExt cx="11023600" cy="9346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23600" cy="934593"/>
            </a:xfrm>
            <a:custGeom>
              <a:avLst/>
              <a:gdLst/>
              <a:ahLst/>
              <a:cxnLst/>
              <a:rect r="r" b="b" t="t" l="l"/>
              <a:pathLst>
                <a:path h="9345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731393"/>
                  </a:lnTo>
                  <a:cubicBezTo>
                    <a:pt x="11023600" y="843661"/>
                    <a:pt x="10932668" y="934593"/>
                    <a:pt x="10820400" y="934593"/>
                  </a:cubicBezTo>
                  <a:lnTo>
                    <a:pt x="203200" y="934593"/>
                  </a:lnTo>
                  <a:cubicBezTo>
                    <a:pt x="90932" y="934593"/>
                    <a:pt x="0" y="843661"/>
                    <a:pt x="0" y="7313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52500" y="5574211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How many customers? (2s)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2000" y="6313294"/>
            <a:ext cx="8267700" cy="700983"/>
            <a:chOff x="0" y="0"/>
            <a:chExt cx="11023600" cy="934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3600" cy="934593"/>
            </a:xfrm>
            <a:custGeom>
              <a:avLst/>
              <a:gdLst/>
              <a:ahLst/>
              <a:cxnLst/>
              <a:rect r="r" b="b" t="t" l="l"/>
              <a:pathLst>
                <a:path h="9345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731393"/>
                  </a:lnTo>
                  <a:cubicBezTo>
                    <a:pt x="11023600" y="843661"/>
                    <a:pt x="10932668" y="934593"/>
                    <a:pt x="10820400" y="934593"/>
                  </a:cubicBezTo>
                  <a:lnTo>
                    <a:pt x="203200" y="934593"/>
                  </a:lnTo>
                  <a:cubicBezTo>
                    <a:pt x="90932" y="934593"/>
                    <a:pt x="0" y="843661"/>
                    <a:pt x="0" y="7313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2500" y="6427594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Average order value? (3s)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8300" y="3957047"/>
            <a:ext cx="843305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Requêtes Moyennes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00" y="4606528"/>
            <a:ext cx="8267700" cy="700983"/>
            <a:chOff x="0" y="0"/>
            <a:chExt cx="11023600" cy="934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3600" cy="934593"/>
            </a:xfrm>
            <a:custGeom>
              <a:avLst/>
              <a:gdLst/>
              <a:ahLst/>
              <a:cxnLst/>
              <a:rect r="r" b="b" t="t" l="l"/>
              <a:pathLst>
                <a:path h="9345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731393"/>
                  </a:lnTo>
                  <a:cubicBezTo>
                    <a:pt x="11023600" y="843661"/>
                    <a:pt x="10932668" y="934593"/>
                    <a:pt x="10820400" y="934593"/>
                  </a:cubicBezTo>
                  <a:lnTo>
                    <a:pt x="203200" y="934593"/>
                  </a:lnTo>
                  <a:cubicBezTo>
                    <a:pt x="90932" y="934593"/>
                    <a:pt x="0" y="843661"/>
                    <a:pt x="0" y="731393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448800" y="4720828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Revenue by region (15s)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8300" y="5459911"/>
            <a:ext cx="8267700" cy="700983"/>
            <a:chOff x="0" y="0"/>
            <a:chExt cx="11023600" cy="9346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23600" cy="934593"/>
            </a:xfrm>
            <a:custGeom>
              <a:avLst/>
              <a:gdLst/>
              <a:ahLst/>
              <a:cxnLst/>
              <a:rect r="r" b="b" t="t" l="l"/>
              <a:pathLst>
                <a:path h="9345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731393"/>
                  </a:lnTo>
                  <a:cubicBezTo>
                    <a:pt x="11023600" y="843661"/>
                    <a:pt x="10932668" y="934593"/>
                    <a:pt x="10820400" y="934593"/>
                  </a:cubicBezTo>
                  <a:lnTo>
                    <a:pt x="203200" y="934593"/>
                  </a:lnTo>
                  <a:cubicBezTo>
                    <a:pt x="90932" y="934593"/>
                    <a:pt x="0" y="843661"/>
                    <a:pt x="0" y="731393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48800" y="5574211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Top 10 products (20s)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58300" y="6313294"/>
            <a:ext cx="8267700" cy="700983"/>
            <a:chOff x="0" y="0"/>
            <a:chExt cx="11023600" cy="9346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23600" cy="934593"/>
            </a:xfrm>
            <a:custGeom>
              <a:avLst/>
              <a:gdLst/>
              <a:ahLst/>
              <a:cxnLst/>
              <a:rect r="r" b="b" t="t" l="l"/>
              <a:pathLst>
                <a:path h="9345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731393"/>
                  </a:lnTo>
                  <a:cubicBezTo>
                    <a:pt x="11023600" y="843661"/>
                    <a:pt x="10932668" y="934593"/>
                    <a:pt x="10820400" y="934593"/>
                  </a:cubicBezTo>
                  <a:lnTo>
                    <a:pt x="203200" y="934593"/>
                  </a:lnTo>
                  <a:cubicBezTo>
                    <a:pt x="90932" y="934593"/>
                    <a:pt x="0" y="843661"/>
                    <a:pt x="0" y="731393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448800" y="6427594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Enterprise sales (12s)</a:t>
            </a:r>
          </a:p>
        </p:txBody>
      </p:sp>
      <p:sp>
        <p:nvSpPr>
          <p:cNvPr name="Freeform 23" id="23" descr="/tmp/rasterized-gradient-356c56f0.png"/>
          <p:cNvSpPr/>
          <p:nvPr/>
        </p:nvSpPr>
        <p:spPr>
          <a:xfrm flipH="false" flipV="false" rot="0">
            <a:off x="762000" y="7166667"/>
            <a:ext cx="16764000" cy="1211161"/>
          </a:xfrm>
          <a:custGeom>
            <a:avLst/>
            <a:gdLst/>
            <a:ahLst/>
            <a:cxnLst/>
            <a:rect r="r" b="b" t="t" l="l"/>
            <a:pathLst>
              <a:path h="1211161" w="16764000">
                <a:moveTo>
                  <a:pt x="0" y="0"/>
                </a:moveTo>
                <a:lnTo>
                  <a:pt x="16764000" y="0"/>
                </a:lnTo>
                <a:lnTo>
                  <a:pt x="16764000" y="1211161"/>
                </a:lnTo>
                <a:lnTo>
                  <a:pt x="0" y="1211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1" r="0" b="-331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90600" y="7309542"/>
            <a:ext cx="16632936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Requêtes Complexes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7808414"/>
            <a:ext cx="1663293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>
                    <a:alpha val="94902"/>
                  </a:srgb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Compare Q1 Q2 by region (85s) | Profit margin by category (90s)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2000" y="9382125"/>
            <a:ext cx="1760630" cy="16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943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Exemples supportés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935661"/>
            <a:ext cx="6056412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PERFORMANCES &amp; MÉTRIQUES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3316786"/>
            <a:ext cx="5461102" cy="2095205"/>
            <a:chOff x="0" y="0"/>
            <a:chExt cx="7281469" cy="27936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81418" cy="2793619"/>
            </a:xfrm>
            <a:custGeom>
              <a:avLst/>
              <a:gdLst/>
              <a:ahLst/>
              <a:cxnLst/>
              <a:rect r="r" b="b" t="t" l="l"/>
              <a:pathLst>
                <a:path h="2793619" w="7281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027418" y="0"/>
                  </a:lnTo>
                  <a:cubicBezTo>
                    <a:pt x="7167753" y="0"/>
                    <a:pt x="7281418" y="113665"/>
                    <a:pt x="7281418" y="254000"/>
                  </a:cubicBezTo>
                  <a:lnTo>
                    <a:pt x="7281418" y="2539619"/>
                  </a:lnTo>
                  <a:cubicBezTo>
                    <a:pt x="7281418" y="2679954"/>
                    <a:pt x="7167753" y="2793619"/>
                    <a:pt x="7027418" y="2793619"/>
                  </a:cubicBezTo>
                  <a:lnTo>
                    <a:pt x="254000" y="2793619"/>
                  </a:lnTo>
                  <a:cubicBezTo>
                    <a:pt x="113665" y="2793619"/>
                    <a:pt x="0" y="2679954"/>
                    <a:pt x="0" y="25396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33425" y="3316786"/>
            <a:ext cx="5518252" cy="57150"/>
            <a:chOff x="0" y="0"/>
            <a:chExt cx="7357669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21134" y="3392986"/>
            <a:ext cx="514284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24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90%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1134" y="4427334"/>
            <a:ext cx="514284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Précision SQL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1134" y="4888116"/>
            <a:ext cx="51428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Cible: 85% ✅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13602" y="3316786"/>
            <a:ext cx="5461102" cy="2095205"/>
            <a:chOff x="0" y="0"/>
            <a:chExt cx="7281469" cy="2793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81418" cy="2793619"/>
            </a:xfrm>
            <a:custGeom>
              <a:avLst/>
              <a:gdLst/>
              <a:ahLst/>
              <a:cxnLst/>
              <a:rect r="r" b="b" t="t" l="l"/>
              <a:pathLst>
                <a:path h="2793619" w="7281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027418" y="0"/>
                  </a:lnTo>
                  <a:cubicBezTo>
                    <a:pt x="7167753" y="0"/>
                    <a:pt x="7281418" y="113665"/>
                    <a:pt x="7281418" y="254000"/>
                  </a:cubicBezTo>
                  <a:lnTo>
                    <a:pt x="7281418" y="2539619"/>
                  </a:lnTo>
                  <a:cubicBezTo>
                    <a:pt x="7281418" y="2679954"/>
                    <a:pt x="7167753" y="2793619"/>
                    <a:pt x="7027418" y="2793619"/>
                  </a:cubicBezTo>
                  <a:lnTo>
                    <a:pt x="254000" y="2793619"/>
                  </a:lnTo>
                  <a:cubicBezTo>
                    <a:pt x="113665" y="2793619"/>
                    <a:pt x="0" y="2679954"/>
                    <a:pt x="0" y="25396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385027" y="3316786"/>
            <a:ext cx="5518252" cy="57150"/>
            <a:chOff x="0" y="0"/>
            <a:chExt cx="7357669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572726" y="3392986"/>
            <a:ext cx="514284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24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90%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72726" y="4427334"/>
            <a:ext cx="514284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NER Accuracy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72726" y="4888116"/>
            <a:ext cx="51428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Cible: 87% ✅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65194" y="3316786"/>
            <a:ext cx="5461102" cy="2095205"/>
            <a:chOff x="0" y="0"/>
            <a:chExt cx="7281469" cy="27936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1418" cy="2793619"/>
            </a:xfrm>
            <a:custGeom>
              <a:avLst/>
              <a:gdLst/>
              <a:ahLst/>
              <a:cxnLst/>
              <a:rect r="r" b="b" t="t" l="l"/>
              <a:pathLst>
                <a:path h="2793619" w="7281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027418" y="0"/>
                  </a:lnTo>
                  <a:cubicBezTo>
                    <a:pt x="7167753" y="0"/>
                    <a:pt x="7281418" y="113665"/>
                    <a:pt x="7281418" y="254000"/>
                  </a:cubicBezTo>
                  <a:lnTo>
                    <a:pt x="7281418" y="2539619"/>
                  </a:lnTo>
                  <a:cubicBezTo>
                    <a:pt x="7281418" y="2679954"/>
                    <a:pt x="7167753" y="2793619"/>
                    <a:pt x="7027418" y="2793619"/>
                  </a:cubicBezTo>
                  <a:lnTo>
                    <a:pt x="254000" y="2793619"/>
                  </a:lnTo>
                  <a:cubicBezTo>
                    <a:pt x="113665" y="2793619"/>
                    <a:pt x="0" y="2679954"/>
                    <a:pt x="0" y="25396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036619" y="3316786"/>
            <a:ext cx="5518252" cy="57150"/>
            <a:chOff x="0" y="0"/>
            <a:chExt cx="7357669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24328" y="3392986"/>
            <a:ext cx="514284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24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91%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24328" y="4427334"/>
            <a:ext cx="514284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Classification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4328" y="4888116"/>
            <a:ext cx="51428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Cible: 90% ✅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2000" y="5564391"/>
            <a:ext cx="5461102" cy="2095205"/>
            <a:chOff x="0" y="0"/>
            <a:chExt cx="7281469" cy="27936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81418" cy="2793619"/>
            </a:xfrm>
            <a:custGeom>
              <a:avLst/>
              <a:gdLst/>
              <a:ahLst/>
              <a:cxnLst/>
              <a:rect r="r" b="b" t="t" l="l"/>
              <a:pathLst>
                <a:path h="2793619" w="7281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027418" y="0"/>
                  </a:lnTo>
                  <a:cubicBezTo>
                    <a:pt x="7167753" y="0"/>
                    <a:pt x="7281418" y="113665"/>
                    <a:pt x="7281418" y="254000"/>
                  </a:cubicBezTo>
                  <a:lnTo>
                    <a:pt x="7281418" y="2539619"/>
                  </a:lnTo>
                  <a:cubicBezTo>
                    <a:pt x="7281418" y="2679954"/>
                    <a:pt x="7167753" y="2793619"/>
                    <a:pt x="7027418" y="2793619"/>
                  </a:cubicBezTo>
                  <a:lnTo>
                    <a:pt x="254000" y="2793619"/>
                  </a:lnTo>
                  <a:cubicBezTo>
                    <a:pt x="113665" y="2793619"/>
                    <a:pt x="0" y="2679954"/>
                    <a:pt x="0" y="25396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33425" y="5564381"/>
            <a:ext cx="5518252" cy="57150"/>
            <a:chOff x="0" y="0"/>
            <a:chExt cx="7357669" cy="76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21134" y="5640591"/>
            <a:ext cx="514284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24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2.3S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1134" y="6674939"/>
            <a:ext cx="514284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Temps Moyen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1134" y="7135711"/>
            <a:ext cx="51428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p95: &lt;3s ✅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13602" y="5564391"/>
            <a:ext cx="5461102" cy="2095205"/>
            <a:chOff x="0" y="0"/>
            <a:chExt cx="7281469" cy="27936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81418" cy="2793619"/>
            </a:xfrm>
            <a:custGeom>
              <a:avLst/>
              <a:gdLst/>
              <a:ahLst/>
              <a:cxnLst/>
              <a:rect r="r" b="b" t="t" l="l"/>
              <a:pathLst>
                <a:path h="2793619" w="7281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027418" y="0"/>
                  </a:lnTo>
                  <a:cubicBezTo>
                    <a:pt x="7167753" y="0"/>
                    <a:pt x="7281418" y="113665"/>
                    <a:pt x="7281418" y="254000"/>
                  </a:cubicBezTo>
                  <a:lnTo>
                    <a:pt x="7281418" y="2539619"/>
                  </a:lnTo>
                  <a:cubicBezTo>
                    <a:pt x="7281418" y="2679954"/>
                    <a:pt x="7167753" y="2793619"/>
                    <a:pt x="7027418" y="2793619"/>
                  </a:cubicBezTo>
                  <a:lnTo>
                    <a:pt x="254000" y="2793619"/>
                  </a:lnTo>
                  <a:cubicBezTo>
                    <a:pt x="113665" y="2793619"/>
                    <a:pt x="0" y="2679954"/>
                    <a:pt x="0" y="25396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385027" y="5564381"/>
            <a:ext cx="5518252" cy="57150"/>
            <a:chOff x="0" y="0"/>
            <a:chExt cx="7357669" cy="76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6572726" y="5640591"/>
            <a:ext cx="514284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24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75%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72726" y="6674939"/>
            <a:ext cx="514284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Gain Temps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72726" y="7135711"/>
            <a:ext cx="51428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Cible: 70% ✅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65194" y="5564391"/>
            <a:ext cx="5461102" cy="2095205"/>
            <a:chOff x="0" y="0"/>
            <a:chExt cx="7281469" cy="27936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81418" cy="2793619"/>
            </a:xfrm>
            <a:custGeom>
              <a:avLst/>
              <a:gdLst/>
              <a:ahLst/>
              <a:cxnLst/>
              <a:rect r="r" b="b" t="t" l="l"/>
              <a:pathLst>
                <a:path h="2793619" w="7281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027418" y="0"/>
                  </a:lnTo>
                  <a:cubicBezTo>
                    <a:pt x="7167753" y="0"/>
                    <a:pt x="7281418" y="113665"/>
                    <a:pt x="7281418" y="254000"/>
                  </a:cubicBezTo>
                  <a:lnTo>
                    <a:pt x="7281418" y="2539619"/>
                  </a:lnTo>
                  <a:cubicBezTo>
                    <a:pt x="7281418" y="2679954"/>
                    <a:pt x="7167753" y="2793619"/>
                    <a:pt x="7027418" y="2793619"/>
                  </a:cubicBezTo>
                  <a:lnTo>
                    <a:pt x="254000" y="2793619"/>
                  </a:lnTo>
                  <a:cubicBezTo>
                    <a:pt x="113665" y="2793619"/>
                    <a:pt x="0" y="2679954"/>
                    <a:pt x="0" y="25396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036619" y="5564381"/>
            <a:ext cx="5518252" cy="57150"/>
            <a:chOff x="0" y="0"/>
            <a:chExt cx="7357669" cy="76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8100" y="0"/>
              <a:ext cx="7281418" cy="76200"/>
            </a:xfrm>
            <a:custGeom>
              <a:avLst/>
              <a:gdLst/>
              <a:ahLst/>
              <a:cxnLst/>
              <a:rect r="r" b="b" t="t" l="l"/>
              <a:pathLst>
                <a:path h="76200" w="7281418">
                  <a:moveTo>
                    <a:pt x="0" y="0"/>
                  </a:moveTo>
                  <a:lnTo>
                    <a:pt x="7281418" y="0"/>
                  </a:lnTo>
                  <a:lnTo>
                    <a:pt x="72814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2B3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2224328" y="5640591"/>
            <a:ext cx="514284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24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100%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24328" y="6674939"/>
            <a:ext cx="514284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Gratuit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24328" y="7135711"/>
            <a:ext cx="51428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$0 API</a:t>
            </a:r>
          </a:p>
        </p:txBody>
      </p:sp>
      <p:sp>
        <p:nvSpPr>
          <p:cNvPr name="Freeform 45" id="45" descr="/tmp/rasterized-gradient-020b7379.png"/>
          <p:cNvSpPr/>
          <p:nvPr/>
        </p:nvSpPr>
        <p:spPr>
          <a:xfrm flipH="false" flipV="false" rot="0">
            <a:off x="762000" y="7811986"/>
            <a:ext cx="16764000" cy="1291533"/>
          </a:xfrm>
          <a:custGeom>
            <a:avLst/>
            <a:gdLst/>
            <a:ahLst/>
            <a:cxnLst/>
            <a:rect r="r" b="b" t="t" l="l"/>
            <a:pathLst>
              <a:path h="1291533" w="16764000">
                <a:moveTo>
                  <a:pt x="0" y="0"/>
                </a:moveTo>
                <a:lnTo>
                  <a:pt x="16764000" y="0"/>
                </a:lnTo>
                <a:lnTo>
                  <a:pt x="16764000" y="1291533"/>
                </a:lnTo>
                <a:lnTo>
                  <a:pt x="0" y="1291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" r="0" b="-149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71550" y="7935811"/>
            <a:ext cx="1667179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Résultats Clés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1550" y="8526361"/>
            <a:ext cx="1667179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>
                    <a:alpha val="94902"/>
                  </a:srgb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Surpasse objectifs | Performance p95 &lt;3s | 75% réduction temps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2000" y="9382125"/>
            <a:ext cx="1620060" cy="15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"/>
              </a:lnSpc>
            </a:pPr>
            <a:r>
              <a:rPr lang="en-US" sz="891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Métriques validées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524295"/>
            <a:ext cx="3694212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AVANTAGES CLÉS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2905420"/>
            <a:ext cx="8267700" cy="2114255"/>
            <a:chOff x="0" y="0"/>
            <a:chExt cx="11023600" cy="28190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3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2565019"/>
                  </a:lnTo>
                  <a:cubicBezTo>
                    <a:pt x="11023600" y="2705354"/>
                    <a:pt x="10909935" y="2819019"/>
                    <a:pt x="10769600" y="2819019"/>
                  </a:cubicBezTo>
                  <a:lnTo>
                    <a:pt x="254000" y="2819019"/>
                  </a:lnTo>
                  <a:cubicBezTo>
                    <a:pt x="113665" y="2819019"/>
                    <a:pt x="0" y="2705354"/>
                    <a:pt x="0" y="25650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2867320"/>
            <a:ext cx="76200" cy="2190455"/>
            <a:chOff x="0" y="0"/>
            <a:chExt cx="101600" cy="2920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50800"/>
              <a:ext cx="101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01600">
                  <a:moveTo>
                    <a:pt x="101600" y="0"/>
                  </a:moveTo>
                  <a:lnTo>
                    <a:pt x="101600" y="2819019"/>
                  </a:lnTo>
                  <a:lnTo>
                    <a:pt x="0" y="2819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47750" y="2953045"/>
            <a:ext cx="79278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3928167"/>
            <a:ext cx="79278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100% Gratuit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4413942"/>
            <a:ext cx="792784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Infrastructure locale uniquement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58300" y="2905420"/>
            <a:ext cx="8267700" cy="2114255"/>
            <a:chOff x="0" y="0"/>
            <a:chExt cx="11023600" cy="2819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3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2565019"/>
                  </a:lnTo>
                  <a:cubicBezTo>
                    <a:pt x="11023600" y="2705354"/>
                    <a:pt x="10909935" y="2819019"/>
                    <a:pt x="10769600" y="2819019"/>
                  </a:cubicBezTo>
                  <a:lnTo>
                    <a:pt x="254000" y="2819019"/>
                  </a:lnTo>
                  <a:cubicBezTo>
                    <a:pt x="113665" y="2819019"/>
                    <a:pt x="0" y="2705354"/>
                    <a:pt x="0" y="25650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00" y="2867320"/>
            <a:ext cx="76200" cy="2190455"/>
            <a:chOff x="0" y="0"/>
            <a:chExt cx="101600" cy="29206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50800"/>
              <a:ext cx="101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01600">
                  <a:moveTo>
                    <a:pt x="101600" y="0"/>
                  </a:moveTo>
                  <a:lnTo>
                    <a:pt x="101600" y="2819019"/>
                  </a:lnTo>
                  <a:lnTo>
                    <a:pt x="0" y="2819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544050" y="2953045"/>
            <a:ext cx="79278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4050" y="3928167"/>
            <a:ext cx="79278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Confidentialité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44050" y="4413942"/>
            <a:ext cx="792784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Données sur vos serveurs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2000" y="5153025"/>
            <a:ext cx="8267700" cy="2114255"/>
            <a:chOff x="0" y="0"/>
            <a:chExt cx="11023600" cy="28190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23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2565019"/>
                  </a:lnTo>
                  <a:cubicBezTo>
                    <a:pt x="11023600" y="2705354"/>
                    <a:pt x="10909935" y="2819019"/>
                    <a:pt x="10769600" y="2819019"/>
                  </a:cubicBezTo>
                  <a:lnTo>
                    <a:pt x="254000" y="2819019"/>
                  </a:lnTo>
                  <a:cubicBezTo>
                    <a:pt x="113665" y="2819019"/>
                    <a:pt x="0" y="2705354"/>
                    <a:pt x="0" y="25650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62000" y="5114925"/>
            <a:ext cx="76200" cy="2190455"/>
            <a:chOff x="0" y="0"/>
            <a:chExt cx="101600" cy="29206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50800"/>
              <a:ext cx="101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01600">
                  <a:moveTo>
                    <a:pt x="101600" y="0"/>
                  </a:moveTo>
                  <a:lnTo>
                    <a:pt x="101600" y="2819019"/>
                  </a:lnTo>
                  <a:lnTo>
                    <a:pt x="0" y="2819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47750" y="5200650"/>
            <a:ext cx="79278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" y="6175772"/>
            <a:ext cx="79278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Offline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750" y="6661547"/>
            <a:ext cx="792784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Disponibilité 24/7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8300" y="5153025"/>
            <a:ext cx="8267700" cy="2114255"/>
            <a:chOff x="0" y="0"/>
            <a:chExt cx="11023600" cy="28190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23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2565019"/>
                  </a:lnTo>
                  <a:cubicBezTo>
                    <a:pt x="11023600" y="2705354"/>
                    <a:pt x="10909935" y="2819019"/>
                    <a:pt x="10769600" y="2819019"/>
                  </a:cubicBezTo>
                  <a:lnTo>
                    <a:pt x="254000" y="2819019"/>
                  </a:lnTo>
                  <a:cubicBezTo>
                    <a:pt x="113665" y="2819019"/>
                    <a:pt x="0" y="2705354"/>
                    <a:pt x="0" y="25650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258300" y="5114925"/>
            <a:ext cx="76200" cy="2190455"/>
            <a:chOff x="0" y="0"/>
            <a:chExt cx="101600" cy="29206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50800"/>
              <a:ext cx="101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01600">
                  <a:moveTo>
                    <a:pt x="101600" y="0"/>
                  </a:moveTo>
                  <a:lnTo>
                    <a:pt x="101600" y="2819019"/>
                  </a:lnTo>
                  <a:lnTo>
                    <a:pt x="0" y="2819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544050" y="5200650"/>
            <a:ext cx="79278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⚡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44050" y="6175772"/>
            <a:ext cx="79278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Productivité x4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44050" y="6661547"/>
            <a:ext cx="792784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75% temps économisé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62000" y="7400630"/>
            <a:ext cx="8267700" cy="2114255"/>
            <a:chOff x="0" y="0"/>
            <a:chExt cx="11023600" cy="28190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23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2565019"/>
                  </a:lnTo>
                  <a:cubicBezTo>
                    <a:pt x="11023600" y="2705354"/>
                    <a:pt x="10909935" y="2819019"/>
                    <a:pt x="10769600" y="2819019"/>
                  </a:cubicBezTo>
                  <a:lnTo>
                    <a:pt x="254000" y="2819019"/>
                  </a:lnTo>
                  <a:cubicBezTo>
                    <a:pt x="113665" y="2819019"/>
                    <a:pt x="0" y="2705354"/>
                    <a:pt x="0" y="25650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62000" y="7362530"/>
            <a:ext cx="76200" cy="2190455"/>
            <a:chOff x="0" y="0"/>
            <a:chExt cx="101600" cy="29206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50800"/>
              <a:ext cx="101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01600">
                  <a:moveTo>
                    <a:pt x="101600" y="0"/>
                  </a:moveTo>
                  <a:lnTo>
                    <a:pt x="101600" y="2819019"/>
                  </a:lnTo>
                  <a:lnTo>
                    <a:pt x="0" y="2819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047750" y="7448255"/>
            <a:ext cx="79278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7750" y="8423377"/>
            <a:ext cx="79278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Démocratisation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7750" y="8909152"/>
            <a:ext cx="792784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Accessible aux non-techniciens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58300" y="7400630"/>
            <a:ext cx="8267700" cy="2114255"/>
            <a:chOff x="0" y="0"/>
            <a:chExt cx="11023600" cy="28190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23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1023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769600" y="0"/>
                  </a:lnTo>
                  <a:cubicBezTo>
                    <a:pt x="10909935" y="0"/>
                    <a:pt x="11023600" y="113665"/>
                    <a:pt x="11023600" y="254000"/>
                  </a:cubicBezTo>
                  <a:lnTo>
                    <a:pt x="11023600" y="2565019"/>
                  </a:lnTo>
                  <a:cubicBezTo>
                    <a:pt x="11023600" y="2705354"/>
                    <a:pt x="10909935" y="2819019"/>
                    <a:pt x="10769600" y="2819019"/>
                  </a:cubicBezTo>
                  <a:lnTo>
                    <a:pt x="254000" y="2819019"/>
                  </a:lnTo>
                  <a:cubicBezTo>
                    <a:pt x="113665" y="2819019"/>
                    <a:pt x="0" y="2705354"/>
                    <a:pt x="0" y="2565019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258300" y="7362530"/>
            <a:ext cx="76200" cy="2190455"/>
            <a:chOff x="0" y="0"/>
            <a:chExt cx="101600" cy="292060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50800"/>
              <a:ext cx="101600" cy="2819019"/>
            </a:xfrm>
            <a:custGeom>
              <a:avLst/>
              <a:gdLst/>
              <a:ahLst/>
              <a:cxnLst/>
              <a:rect r="r" b="b" t="t" l="l"/>
              <a:pathLst>
                <a:path h="2819019" w="101600">
                  <a:moveTo>
                    <a:pt x="101600" y="0"/>
                  </a:moveTo>
                  <a:lnTo>
                    <a:pt x="101600" y="2819019"/>
                  </a:lnTo>
                  <a:lnTo>
                    <a:pt x="0" y="2819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5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544050" y="7448255"/>
            <a:ext cx="79278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🎯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44050" y="8423377"/>
            <a:ext cx="79278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Haute Précision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44050" y="8909152"/>
            <a:ext cx="792784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90% de précision SQL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2000" y="9391650"/>
            <a:ext cx="1988639" cy="14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Valeur pour l'entreprise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2162470"/>
            <a:ext cx="4856063" cy="76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4982" spc="24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PERSPECTIVES FUTURES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000" y="3457870"/>
            <a:ext cx="843305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Court Terme (3-6 mois)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4107361"/>
            <a:ext cx="8267700" cy="1024833"/>
            <a:chOff x="0" y="0"/>
            <a:chExt cx="11023600" cy="13664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23600" cy="1366393"/>
            </a:xfrm>
            <a:custGeom>
              <a:avLst/>
              <a:gdLst/>
              <a:ahLst/>
              <a:cxnLst/>
              <a:rect r="r" b="b" t="t" l="l"/>
              <a:pathLst>
                <a:path h="13663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163193"/>
                  </a:lnTo>
                  <a:cubicBezTo>
                    <a:pt x="11023600" y="1275461"/>
                    <a:pt x="10932668" y="1366393"/>
                    <a:pt x="10820400" y="1366393"/>
                  </a:cubicBezTo>
                  <a:lnTo>
                    <a:pt x="203200" y="1366393"/>
                  </a:lnTo>
                  <a:cubicBezTo>
                    <a:pt x="90932" y="1366393"/>
                    <a:pt x="0" y="1275461"/>
                    <a:pt x="0" y="11631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2500" y="4221661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Intégration Power BI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627369"/>
            <a:ext cx="80444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Connexion directe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2000" y="5284594"/>
            <a:ext cx="8267700" cy="1024833"/>
            <a:chOff x="0" y="0"/>
            <a:chExt cx="11023600" cy="13664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3600" cy="1366393"/>
            </a:xfrm>
            <a:custGeom>
              <a:avLst/>
              <a:gdLst/>
              <a:ahLst/>
              <a:cxnLst/>
              <a:rect r="r" b="b" t="t" l="l"/>
              <a:pathLst>
                <a:path h="13663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163193"/>
                  </a:lnTo>
                  <a:cubicBezTo>
                    <a:pt x="11023600" y="1275461"/>
                    <a:pt x="10932668" y="1366393"/>
                    <a:pt x="10820400" y="1366393"/>
                  </a:cubicBezTo>
                  <a:lnTo>
                    <a:pt x="203200" y="1366393"/>
                  </a:lnTo>
                  <a:cubicBezTo>
                    <a:pt x="90932" y="1366393"/>
                    <a:pt x="0" y="1275461"/>
                    <a:pt x="0" y="11631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52500" y="5398894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Support Multi-SGBD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5804592"/>
            <a:ext cx="80444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PostgreSQL, MySQL, Oracle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2000" y="6461817"/>
            <a:ext cx="8267700" cy="1024833"/>
            <a:chOff x="0" y="0"/>
            <a:chExt cx="11023600" cy="1366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23600" cy="1366393"/>
            </a:xfrm>
            <a:custGeom>
              <a:avLst/>
              <a:gdLst/>
              <a:ahLst/>
              <a:cxnLst/>
              <a:rect r="r" b="b" t="t" l="l"/>
              <a:pathLst>
                <a:path h="13663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163193"/>
                  </a:lnTo>
                  <a:cubicBezTo>
                    <a:pt x="11023600" y="1275461"/>
                    <a:pt x="10932668" y="1366393"/>
                    <a:pt x="10820400" y="1366393"/>
                  </a:cubicBezTo>
                  <a:lnTo>
                    <a:pt x="203200" y="1366393"/>
                  </a:lnTo>
                  <a:cubicBezTo>
                    <a:pt x="90932" y="1366393"/>
                    <a:pt x="0" y="1275461"/>
                    <a:pt x="0" y="11631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52500" y="6576117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Visualisations Auto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981825"/>
            <a:ext cx="80444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Graphiques intelligents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58300" y="3457870"/>
            <a:ext cx="843305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Moyen Terme (6-12 mois)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8300" y="4107361"/>
            <a:ext cx="8267700" cy="1024833"/>
            <a:chOff x="0" y="0"/>
            <a:chExt cx="11023600" cy="13664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23600" cy="1366393"/>
            </a:xfrm>
            <a:custGeom>
              <a:avLst/>
              <a:gdLst/>
              <a:ahLst/>
              <a:cxnLst/>
              <a:rect r="r" b="b" t="t" l="l"/>
              <a:pathLst>
                <a:path h="13663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163193"/>
                  </a:lnTo>
                  <a:cubicBezTo>
                    <a:pt x="11023600" y="1275461"/>
                    <a:pt x="10932668" y="1366393"/>
                    <a:pt x="10820400" y="1366393"/>
                  </a:cubicBezTo>
                  <a:lnTo>
                    <a:pt x="203200" y="1366393"/>
                  </a:lnTo>
                  <a:cubicBezTo>
                    <a:pt x="90932" y="1366393"/>
                    <a:pt x="0" y="1275461"/>
                    <a:pt x="0" y="11631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48800" y="4221661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Fine-tuning Modèle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8800" y="4627369"/>
            <a:ext cx="80444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Optimisation métier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58300" y="5284594"/>
            <a:ext cx="8267700" cy="1024833"/>
            <a:chOff x="0" y="0"/>
            <a:chExt cx="11023600" cy="1366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23600" cy="1366393"/>
            </a:xfrm>
            <a:custGeom>
              <a:avLst/>
              <a:gdLst/>
              <a:ahLst/>
              <a:cxnLst/>
              <a:rect r="r" b="b" t="t" l="l"/>
              <a:pathLst>
                <a:path h="13663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163193"/>
                  </a:lnTo>
                  <a:cubicBezTo>
                    <a:pt x="11023600" y="1275461"/>
                    <a:pt x="10932668" y="1366393"/>
                    <a:pt x="10820400" y="1366393"/>
                  </a:cubicBezTo>
                  <a:lnTo>
                    <a:pt x="203200" y="1366393"/>
                  </a:lnTo>
                  <a:cubicBezTo>
                    <a:pt x="90932" y="1366393"/>
                    <a:pt x="0" y="1275461"/>
                    <a:pt x="0" y="11631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448800" y="5398894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Conversations Multi-tours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48800" y="5804592"/>
            <a:ext cx="80444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Contexte maintenu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58300" y="6461817"/>
            <a:ext cx="8267700" cy="1024833"/>
            <a:chOff x="0" y="0"/>
            <a:chExt cx="11023600" cy="13664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23600" cy="1366393"/>
            </a:xfrm>
            <a:custGeom>
              <a:avLst/>
              <a:gdLst/>
              <a:ahLst/>
              <a:cxnLst/>
              <a:rect r="r" b="b" t="t" l="l"/>
              <a:pathLst>
                <a:path h="1366393" w="1102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20400" y="0"/>
                  </a:lnTo>
                  <a:cubicBezTo>
                    <a:pt x="10932668" y="0"/>
                    <a:pt x="11023600" y="90932"/>
                    <a:pt x="11023600" y="203200"/>
                  </a:cubicBezTo>
                  <a:lnTo>
                    <a:pt x="11023600" y="1163193"/>
                  </a:lnTo>
                  <a:cubicBezTo>
                    <a:pt x="11023600" y="1275461"/>
                    <a:pt x="10932668" y="1366393"/>
                    <a:pt x="10820400" y="1366393"/>
                  </a:cubicBezTo>
                  <a:lnTo>
                    <a:pt x="203200" y="1366393"/>
                  </a:lnTo>
                  <a:cubicBezTo>
                    <a:pt x="90932" y="1366393"/>
                    <a:pt x="0" y="1275461"/>
                    <a:pt x="0" y="1163193"/>
                  </a:cubicBezTo>
                  <a:close/>
                </a:path>
              </a:pathLst>
            </a:custGeom>
            <a:solidFill>
              <a:srgbClr val="AAD1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448800" y="6576117"/>
            <a:ext cx="80444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Alertes Intelligentes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48800" y="6981825"/>
            <a:ext cx="80444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Détection anomalies</a:t>
            </a:r>
          </a:p>
        </p:txBody>
      </p:sp>
      <p:sp>
        <p:nvSpPr>
          <p:cNvPr name="Freeform 29" id="29" descr="/tmp/rasterized-gradient-a3fae49e.png"/>
          <p:cNvSpPr/>
          <p:nvPr/>
        </p:nvSpPr>
        <p:spPr>
          <a:xfrm flipH="false" flipV="false" rot="0">
            <a:off x="762000" y="7639050"/>
            <a:ext cx="16764000" cy="1237955"/>
          </a:xfrm>
          <a:custGeom>
            <a:avLst/>
            <a:gdLst/>
            <a:ahLst/>
            <a:cxnLst/>
            <a:rect r="r" b="b" t="t" l="l"/>
            <a:pathLst>
              <a:path h="1237955" w="16764000">
                <a:moveTo>
                  <a:pt x="0" y="0"/>
                </a:moveTo>
                <a:lnTo>
                  <a:pt x="16764000" y="0"/>
                </a:lnTo>
                <a:lnTo>
                  <a:pt x="16764000" y="1237955"/>
                </a:lnTo>
                <a:lnTo>
                  <a:pt x="0" y="1237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" r="0" b="-11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90600" y="7781925"/>
            <a:ext cx="1663293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Vision Long Terme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0600" y="8307581"/>
            <a:ext cx="1663293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A2B39">
                    <a:alpha val="94902"/>
                  </a:srgb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Assistant BI autonome | Recommandations proactives | Intégration Microsoft/Google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2000" y="9382125"/>
            <a:ext cx="1819532" cy="16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"/>
              </a:lnSpc>
            </a:pPr>
            <a:r>
              <a:rPr lang="en-US" sz="911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Roadmap d'évolution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7956" y="526552"/>
            <a:ext cx="6652079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spc="33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🧞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17956" y="1966617"/>
            <a:ext cx="6652079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DataGenie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17956" y="2854223"/>
            <a:ext cx="6652079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1968">
                <a:solidFill>
                  <a:srgbClr val="2A2B39">
                    <a:alpha val="94902"/>
                  </a:srgb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Démocratisation de l'analyse de données par l'IA locale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28800" y="4265714"/>
            <a:ext cx="14630400" cy="727472"/>
            <a:chOff x="0" y="0"/>
            <a:chExt cx="19507200" cy="9699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970026"/>
            </a:xfrm>
            <a:custGeom>
              <a:avLst/>
              <a:gdLst/>
              <a:ahLst/>
              <a:cxnLst/>
              <a:rect r="r" b="b" t="t" l="l"/>
              <a:pathLst>
                <a:path h="970026" w="195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9304000" y="0"/>
                  </a:lnTo>
                  <a:cubicBezTo>
                    <a:pt x="19416268" y="0"/>
                    <a:pt x="19507200" y="90932"/>
                    <a:pt x="19507200" y="203200"/>
                  </a:cubicBezTo>
                  <a:lnTo>
                    <a:pt x="19507200" y="766826"/>
                  </a:lnTo>
                  <a:cubicBezTo>
                    <a:pt x="19507200" y="879094"/>
                    <a:pt x="19416268" y="970026"/>
                    <a:pt x="19304000" y="970026"/>
                  </a:cubicBezTo>
                  <a:lnTo>
                    <a:pt x="203200" y="970026"/>
                  </a:lnTo>
                  <a:cubicBezTo>
                    <a:pt x="90932" y="970026"/>
                    <a:pt x="0" y="879094"/>
                    <a:pt x="0" y="76682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828800" y="4237139"/>
            <a:ext cx="57150" cy="784622"/>
            <a:chOff x="0" y="0"/>
            <a:chExt cx="76200" cy="1046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8100"/>
              <a:ext cx="76200" cy="970026"/>
            </a:xfrm>
            <a:custGeom>
              <a:avLst/>
              <a:gdLst/>
              <a:ahLst/>
              <a:cxnLst/>
              <a:rect r="r" b="b" t="t" l="l"/>
              <a:pathLst>
                <a:path h="970026" w="76200">
                  <a:moveTo>
                    <a:pt x="76200" y="0"/>
                  </a:moveTo>
                  <a:lnTo>
                    <a:pt x="76200" y="970026"/>
                  </a:lnTo>
                  <a:lnTo>
                    <a:pt x="0" y="9700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A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934528" y="4408589"/>
            <a:ext cx="14476095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Solution 100% gratuite et locale avec Ollama + Llama 3.2:3b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28800" y="5107486"/>
            <a:ext cx="14630400" cy="727472"/>
            <a:chOff x="0" y="0"/>
            <a:chExt cx="19507200" cy="9699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970026"/>
            </a:xfrm>
            <a:custGeom>
              <a:avLst/>
              <a:gdLst/>
              <a:ahLst/>
              <a:cxnLst/>
              <a:rect r="r" b="b" t="t" l="l"/>
              <a:pathLst>
                <a:path h="970026" w="195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9304000" y="0"/>
                  </a:lnTo>
                  <a:cubicBezTo>
                    <a:pt x="19416268" y="0"/>
                    <a:pt x="19507200" y="90932"/>
                    <a:pt x="19507200" y="203200"/>
                  </a:cubicBezTo>
                  <a:lnTo>
                    <a:pt x="19507200" y="766826"/>
                  </a:lnTo>
                  <a:cubicBezTo>
                    <a:pt x="19507200" y="879094"/>
                    <a:pt x="19416268" y="970026"/>
                    <a:pt x="19304000" y="970026"/>
                  </a:cubicBezTo>
                  <a:lnTo>
                    <a:pt x="203200" y="970026"/>
                  </a:lnTo>
                  <a:cubicBezTo>
                    <a:pt x="90932" y="970026"/>
                    <a:pt x="0" y="879094"/>
                    <a:pt x="0" y="76682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828800" y="5078911"/>
            <a:ext cx="57150" cy="784622"/>
            <a:chOff x="0" y="0"/>
            <a:chExt cx="76200" cy="10461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38100"/>
              <a:ext cx="76200" cy="970026"/>
            </a:xfrm>
            <a:custGeom>
              <a:avLst/>
              <a:gdLst/>
              <a:ahLst/>
              <a:cxnLst/>
              <a:rect r="r" b="b" t="t" l="l"/>
              <a:pathLst>
                <a:path h="970026" w="76200">
                  <a:moveTo>
                    <a:pt x="76200" y="0"/>
                  </a:moveTo>
                  <a:lnTo>
                    <a:pt x="76200" y="970026"/>
                  </a:lnTo>
                  <a:lnTo>
                    <a:pt x="0" y="9700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A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934528" y="5250361"/>
            <a:ext cx="14476095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90% de précision SQL avec pipeline NLP optimisé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828800" y="5949258"/>
            <a:ext cx="14630400" cy="727472"/>
            <a:chOff x="0" y="0"/>
            <a:chExt cx="19507200" cy="9699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970026"/>
            </a:xfrm>
            <a:custGeom>
              <a:avLst/>
              <a:gdLst/>
              <a:ahLst/>
              <a:cxnLst/>
              <a:rect r="r" b="b" t="t" l="l"/>
              <a:pathLst>
                <a:path h="970026" w="195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9304000" y="0"/>
                  </a:lnTo>
                  <a:cubicBezTo>
                    <a:pt x="19416268" y="0"/>
                    <a:pt x="19507200" y="90932"/>
                    <a:pt x="19507200" y="203200"/>
                  </a:cubicBezTo>
                  <a:lnTo>
                    <a:pt x="19507200" y="766826"/>
                  </a:lnTo>
                  <a:cubicBezTo>
                    <a:pt x="19507200" y="879094"/>
                    <a:pt x="19416268" y="970026"/>
                    <a:pt x="19304000" y="970026"/>
                  </a:cubicBezTo>
                  <a:lnTo>
                    <a:pt x="203200" y="970026"/>
                  </a:lnTo>
                  <a:cubicBezTo>
                    <a:pt x="90932" y="970026"/>
                    <a:pt x="0" y="879094"/>
                    <a:pt x="0" y="76682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5920683"/>
            <a:ext cx="57150" cy="784622"/>
            <a:chOff x="0" y="0"/>
            <a:chExt cx="76200" cy="10461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38100"/>
              <a:ext cx="76200" cy="970026"/>
            </a:xfrm>
            <a:custGeom>
              <a:avLst/>
              <a:gdLst/>
              <a:ahLst/>
              <a:cxnLst/>
              <a:rect r="r" b="b" t="t" l="l"/>
              <a:pathLst>
                <a:path h="970026" w="76200">
                  <a:moveTo>
                    <a:pt x="76200" y="0"/>
                  </a:moveTo>
                  <a:lnTo>
                    <a:pt x="76200" y="970026"/>
                  </a:lnTo>
                  <a:lnTo>
                    <a:pt x="0" y="9700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A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934528" y="6092133"/>
            <a:ext cx="14476095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75% de gain de temps sur création de rapports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828800" y="6791030"/>
            <a:ext cx="14630400" cy="727472"/>
            <a:chOff x="0" y="0"/>
            <a:chExt cx="19507200" cy="9699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0" cy="970026"/>
            </a:xfrm>
            <a:custGeom>
              <a:avLst/>
              <a:gdLst/>
              <a:ahLst/>
              <a:cxnLst/>
              <a:rect r="r" b="b" t="t" l="l"/>
              <a:pathLst>
                <a:path h="970026" w="195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9304000" y="0"/>
                  </a:lnTo>
                  <a:cubicBezTo>
                    <a:pt x="19416268" y="0"/>
                    <a:pt x="19507200" y="90932"/>
                    <a:pt x="19507200" y="203200"/>
                  </a:cubicBezTo>
                  <a:lnTo>
                    <a:pt x="19507200" y="766826"/>
                  </a:lnTo>
                  <a:cubicBezTo>
                    <a:pt x="19507200" y="879094"/>
                    <a:pt x="19416268" y="970026"/>
                    <a:pt x="19304000" y="970026"/>
                  </a:cubicBezTo>
                  <a:lnTo>
                    <a:pt x="203200" y="970026"/>
                  </a:lnTo>
                  <a:cubicBezTo>
                    <a:pt x="90932" y="970026"/>
                    <a:pt x="0" y="879094"/>
                    <a:pt x="0" y="766826"/>
                  </a:cubicBezTo>
                  <a:close/>
                </a:path>
              </a:pathLst>
            </a:custGeom>
            <a:solidFill>
              <a:srgbClr val="FFE49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800" y="6762455"/>
            <a:ext cx="57150" cy="784622"/>
            <a:chOff x="0" y="0"/>
            <a:chExt cx="76200" cy="10461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38100"/>
              <a:ext cx="76200" cy="970026"/>
            </a:xfrm>
            <a:custGeom>
              <a:avLst/>
              <a:gdLst/>
              <a:ahLst/>
              <a:cxnLst/>
              <a:rect r="r" b="b" t="t" l="l"/>
              <a:pathLst>
                <a:path h="970026" w="76200">
                  <a:moveTo>
                    <a:pt x="76200" y="0"/>
                  </a:moveTo>
                  <a:lnTo>
                    <a:pt x="76200" y="970026"/>
                  </a:lnTo>
                  <a:lnTo>
                    <a:pt x="0" y="9700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A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934528" y="6933905"/>
            <a:ext cx="14476095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Architecture scalable et sécurisée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743200" y="8051902"/>
            <a:ext cx="12801600" cy="1260872"/>
            <a:chOff x="0" y="0"/>
            <a:chExt cx="17068800" cy="16811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00" cy="1681099"/>
            </a:xfrm>
            <a:custGeom>
              <a:avLst/>
              <a:gdLst/>
              <a:ahLst/>
              <a:cxnLst/>
              <a:rect r="r" b="b" t="t" l="l"/>
              <a:pathLst>
                <a:path h="1681099" w="170688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6814800" y="0"/>
                  </a:lnTo>
                  <a:cubicBezTo>
                    <a:pt x="16955136" y="0"/>
                    <a:pt x="17068800" y="113665"/>
                    <a:pt x="17068800" y="254000"/>
                  </a:cubicBezTo>
                  <a:lnTo>
                    <a:pt x="17068800" y="1427099"/>
                  </a:lnTo>
                  <a:cubicBezTo>
                    <a:pt x="17068800" y="1567434"/>
                    <a:pt x="16955136" y="1681099"/>
                    <a:pt x="16814800" y="1681099"/>
                  </a:cubicBezTo>
                  <a:lnTo>
                    <a:pt x="254000" y="1681099"/>
                  </a:lnTo>
                  <a:cubicBezTo>
                    <a:pt x="113665" y="1681099"/>
                    <a:pt x="0" y="1567434"/>
                    <a:pt x="0" y="1427099"/>
                  </a:cubicBezTo>
                  <a:close/>
                </a:path>
              </a:pathLst>
            </a:custGeom>
            <a:solidFill>
              <a:srgbClr val="C2A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2828925" y="8213827"/>
            <a:ext cx="126301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Merci de votre attention ! 🙏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28925" y="8735616"/>
            <a:ext cx="126301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Questions &amp; Démonstration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8226" y="9220200"/>
            <a:ext cx="2424627" cy="24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38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Projet web Semantique- 2026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DAG-FLwwkvk</dc:identifier>
  <dcterms:modified xsi:type="dcterms:W3CDTF">2011-08-01T06:04:30Z</dcterms:modified>
  <cp:revision>1</cp:revision>
  <dc:title>Projet web Semantique- 2026</dc:title>
</cp:coreProperties>
</file>